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ad665b22e84fa6" /><Relationship Type="http://schemas.openxmlformats.org/officeDocument/2006/relationships/extended-properties" Target="/docProps/app.xml" Id="R1f2eec3210d740fa" /><Relationship Type="http://schemas.openxmlformats.org/officeDocument/2006/relationships/officeDocument" Target="/ppt/presentation.xml" Id="Rd53daa896e1448d9" /></Relationships>
</file>

<file path=ppt/presentation.xml><?xml version="1.0" encoding="utf-8"?>
<p:presentation xmlns:p="http://schemas.openxmlformats.org/presentationml/2006/main">
  <p:sldMasterIdLst>
    <p:sldMasterId xmlns:r="http://schemas.openxmlformats.org/officeDocument/2006/relationships" id="2147483648" r:id="Rff9d53a7afe34810"/>
  </p:sldMasterIdLst>
  <p:notesMasterIdLst>
    <p:notesMasterId xmlns:r="http://schemas.openxmlformats.org/officeDocument/2006/relationships" r:id="R495b1e4b23e4428a"/>
  </p:notesMasterIdLst>
  <p:sldIdLst>
    <p:sldId xmlns:r="http://schemas.openxmlformats.org/officeDocument/2006/relationships" id="256" r:id="Rf01509db7cd74f48"/>
    <p:sldId xmlns:r="http://schemas.openxmlformats.org/officeDocument/2006/relationships" id="257" r:id="R606e14f849d34edc"/>
    <p:sldId xmlns:r="http://schemas.openxmlformats.org/officeDocument/2006/relationships" id="258" r:id="Rdf041c9847e145a2"/>
    <p:sldId xmlns:r="http://schemas.openxmlformats.org/officeDocument/2006/relationships" id="259" r:id="R2062cb89329d4a8b"/>
    <p:sldId xmlns:r="http://schemas.openxmlformats.org/officeDocument/2006/relationships" id="260" r:id="Rb76c85cb2d0340dd"/>
    <p:sldId xmlns:r="http://schemas.openxmlformats.org/officeDocument/2006/relationships" id="261" r:id="R46e07c8752174138"/>
    <p:sldId xmlns:r="http://schemas.openxmlformats.org/officeDocument/2006/relationships" id="262" r:id="Rf0853c1fdf554082"/>
    <p:sldId xmlns:r="http://schemas.openxmlformats.org/officeDocument/2006/relationships" id="263" r:id="R00bdc1451d0b4d60"/>
    <p:sldId xmlns:r="http://schemas.openxmlformats.org/officeDocument/2006/relationships" id="264" r:id="Re39b334d06e749c8"/>
    <p:sldId xmlns:r="http://schemas.openxmlformats.org/officeDocument/2006/relationships" id="265" r:id="Rc2f3b6bf5f354cd9"/>
    <p:sldId xmlns:r="http://schemas.openxmlformats.org/officeDocument/2006/relationships" id="266" r:id="Rac60e21ea9044cf3"/>
    <p:sldId xmlns:r="http://schemas.openxmlformats.org/officeDocument/2006/relationships" id="267" r:id="R7e6ce1de86eb4884"/>
    <p:sldId xmlns:r="http://schemas.openxmlformats.org/officeDocument/2006/relationships" id="268" r:id="R9d9d48fd89ed4768"/>
    <p:sldId xmlns:r="http://schemas.openxmlformats.org/officeDocument/2006/relationships" id="269" r:id="R0fb9c45f00f048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2baf0279154828" /><Relationship Type="http://schemas.openxmlformats.org/officeDocument/2006/relationships/slideMaster" Target="/ppt/slideMasters/slideMaster1.xml" Id="Rff9d53a7afe34810" /><Relationship Type="http://schemas.openxmlformats.org/officeDocument/2006/relationships/notesMaster" Target="/ppt/notesMasters/notesMaster1.xml" Id="R495b1e4b23e4428a" /><Relationship Type="http://schemas.openxmlformats.org/officeDocument/2006/relationships/presProps" Target="/ppt/presProps.xml" Id="R4dc2312fe82849a6" /><Relationship Type="http://schemas.openxmlformats.org/officeDocument/2006/relationships/tableStyles" Target="/ppt/tableStyles.xml" Id="Rccff8a0963844084" /><Relationship Type="http://schemas.openxmlformats.org/officeDocument/2006/relationships/slide" Target="/ppt/slides/slide1.xml" Id="Rf01509db7cd74f48" /><Relationship Type="http://schemas.openxmlformats.org/officeDocument/2006/relationships/slide" Target="/ppt/slides/slide2.xml" Id="R606e14f849d34edc" /><Relationship Type="http://schemas.openxmlformats.org/officeDocument/2006/relationships/slide" Target="/ppt/slides/slide3.xml" Id="Rdf041c9847e145a2" /><Relationship Type="http://schemas.openxmlformats.org/officeDocument/2006/relationships/slide" Target="/ppt/slides/slide4.xml" Id="R2062cb89329d4a8b" /><Relationship Type="http://schemas.openxmlformats.org/officeDocument/2006/relationships/slide" Target="/ppt/slides/slide5.xml" Id="Rb76c85cb2d0340dd" /><Relationship Type="http://schemas.openxmlformats.org/officeDocument/2006/relationships/slide" Target="/ppt/slides/slide6.xml" Id="R46e07c8752174138" /><Relationship Type="http://schemas.openxmlformats.org/officeDocument/2006/relationships/slide" Target="/ppt/slides/slide7.xml" Id="Rf0853c1fdf554082" /><Relationship Type="http://schemas.openxmlformats.org/officeDocument/2006/relationships/slide" Target="/ppt/slides/slide8.xml" Id="R00bdc1451d0b4d60" /><Relationship Type="http://schemas.openxmlformats.org/officeDocument/2006/relationships/slide" Target="/ppt/slides/slide9.xml" Id="Re39b334d06e749c8" /><Relationship Type="http://schemas.openxmlformats.org/officeDocument/2006/relationships/slide" Target="/ppt/slides/slide10.xml" Id="Rc2f3b6bf5f354cd9" /><Relationship Type="http://schemas.openxmlformats.org/officeDocument/2006/relationships/slide" Target="/ppt/slides/slide11.xml" Id="Rac60e21ea9044cf3" /><Relationship Type="http://schemas.openxmlformats.org/officeDocument/2006/relationships/slide" Target="/ppt/slides/slide12.xml" Id="R7e6ce1de86eb4884" /><Relationship Type="http://schemas.openxmlformats.org/officeDocument/2006/relationships/slide" Target="/ppt/slides/slide13.xml" Id="R9d9d48fd89ed4768" /><Relationship Type="http://schemas.openxmlformats.org/officeDocument/2006/relationships/slide" Target="/ppt/slides/slide14.xml" Id="R0fb9c45f00f048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93fc30af794a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8230374eec4390" /><Relationship Type="http://schemas.openxmlformats.org/officeDocument/2006/relationships/notesMaster" Target="/ppt/notesMasters/notesMaster1.xml" Id="Rf6a29abad14b4a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835b7671ca40fa" /><Relationship Type="http://schemas.openxmlformats.org/officeDocument/2006/relationships/notesMaster" Target="/ppt/notesMasters/notesMaster1.xml" Id="R8656d30202234c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c4fc30aa46436e" /><Relationship Type="http://schemas.openxmlformats.org/officeDocument/2006/relationships/notesMaster" Target="/ppt/notesMasters/notesMaster1.xml" Id="R10b3d876c3c84f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8236c5f12c44f5" /><Relationship Type="http://schemas.openxmlformats.org/officeDocument/2006/relationships/notesMaster" Target="/ppt/notesMasters/notesMaster1.xml" Id="R4a750fbac4744d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1527ab296b4a61" /><Relationship Type="http://schemas.openxmlformats.org/officeDocument/2006/relationships/notesMaster" Target="/ppt/notesMasters/notesMaster1.xml" Id="Rc63f401c8e1440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d1ee1699544349" /><Relationship Type="http://schemas.openxmlformats.org/officeDocument/2006/relationships/notesMaster" Target="/ppt/notesMasters/notesMaster1.xml" Id="Ra814c2db1a0446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ceba31fd54da1" /><Relationship Type="http://schemas.openxmlformats.org/officeDocument/2006/relationships/notesMaster" Target="/ppt/notesMasters/notesMaster1.xml" Id="Rde6b6b2ca1884f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58d2febfba41ef" /><Relationship Type="http://schemas.openxmlformats.org/officeDocument/2006/relationships/notesMaster" Target="/ppt/notesMasters/notesMaster1.xml" Id="Rc9b4119ad12949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dbe11046944b8b" /><Relationship Type="http://schemas.openxmlformats.org/officeDocument/2006/relationships/notesMaster" Target="/ppt/notesMasters/notesMaster1.xml" Id="R7de3dfbce39b4e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37f2a74b804182" /><Relationship Type="http://schemas.openxmlformats.org/officeDocument/2006/relationships/notesMaster" Target="/ppt/notesMasters/notesMaster1.xml" Id="Rb3564057254741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ad78fe733448d2" /><Relationship Type="http://schemas.openxmlformats.org/officeDocument/2006/relationships/notesMaster" Target="/ppt/notesMasters/notesMaster1.xml" Id="R8a03036ffa814f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80984b39854dc8" /><Relationship Type="http://schemas.openxmlformats.org/officeDocument/2006/relationships/notesMaster" Target="/ppt/notesMasters/notesMaster1.xml" Id="R112998f095d940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27f44291d14d49" /><Relationship Type="http://schemas.openxmlformats.org/officeDocument/2006/relationships/notesMaster" Target="/ppt/notesMasters/notesMaster1.xml" Id="Rb669f88e256747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95353f946b40f7" /><Relationship Type="http://schemas.openxmlformats.org/officeDocument/2006/relationships/notesMaster" Target="/ppt/notesMasters/notesMaster1.xml" Id="R742786e5bdc04a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Instructor-facing guide. Distribute the Student Case Instructions and assigned worksheet to students. Retain the Teaching Notes and Instructor Solutions for instructor use. Sources: case.tex; teaching-notes.tex; instructor-solutions.tex.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teaching-notes.tex, Instruction Manual and Using the Maintained Website. Check the website before class. Assign student credentials. Use the administrator panel to prepare the trial and main releases. The optional customized deployment instructions are in the Teaching Notes and setup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student-case-instructions.tex; worksheet-version-1.docx; worksheet-version-2.docx. Both implementations use a trial event, one main ticket drop, an instructor-led automation demonstration, backend evidence review, and debrief. Neither requires a separate audit memo unless 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case.tex, SeatGate. Students take the role of a junior IT auditor at Rogers &amp; Rogers LLP. The university events office distributes tickets for campus events. Management suspects automated scripts because tickets sell out almost immediately. The instructor acts as system administrator and supplies evidence requested by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case.tex, events office stated policies. Present these policies before the activity. Students compare the expected control with system behavior and administrative evidence. Do not reveal the suggested policy results until the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case.tex, Implementation Guidance table; teaching-notes.tex, Exercise Notes. Suggested phase ranges total 70-120 minutes and can be adapted to the class. The automation demonstration normally follows the main ticket drop. The optional coding extension may be introduced during the trial. Keep all testing within the SeatGate sandbox.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teaching-notes.tex, Opening and Checking the Website; screenshot of https://ais-2026-anonymous.github.io/ticketing-system/admin captured October 16, 2026. Before class, prepare the trial and main inventory. After the demonstration, compare ticket holdings, sales totals, revenue, and remaining inventory. Retain the classroom data until students finish reviewing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teaching-notes.tex, Instructor Demonstration. Sign in as admin, select the ticket class, set quantity to five, and click Buy Tickets during the classroom demonstration. Review the pseudocode and confirm the result in the administrator panel. Use a student account to test the student purchase limit because admin purchases are exempt.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case.tex, Automation Demonstration and Backend Evidence; teaching-notes.tex, Classroom User Roles and Embedded Audit Evidence. Ask students to request and inspect the records supporting each conclusion. The fakebuyer account is an embedded control issue. Retain its significance for the instructor-led evidence review or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instructor-solutions.tex, Policy Evaluation. These are the expected results for the supplied sandbox, not guaranteed outcomes of every classroom run. Verify the current system and the evidence used by students. Accept a different conclusion when supported by the observed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instructor-solutions.tex, Suggested Answer Key: Internal-Control Review. These examples follow the references used in the case. Students should explain why their chosen objective or practice is relevant. COSO and NIST are optional supporting frameworks, not additional required worksheet mappings.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instructor-solutions.tex, Internal-Control Review and Policy Evaluation. Students may recommend other controls when they connect the recommendation to the observed weakness and explain the risk. Rate limits and challenges supplement server-side validation. Retain enough transaction detail for review and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teaching-notes.tex, Grading Guidance and Classroom Debrief. The suggested weights for Version 1 are participation 0-10%, framework questions 10%, transaction discovery 20-30%, policy evaluation 20-30%, and internal-control review 30%. Select weights that total 100%. Adapt the components to Version 2. Students should support conclusions with screenshots, requests and responses, ticket holdings, inventory changes, or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teaching-notes.tex, Instructional Videos and Case Materials. Setup video: https://youtu.be/EGJwitU4Nos . Classroom briefing: https://youtu.be/YJUvlqT4zYw . Observing network flow: https://youtu.be/u1Z670PWvwY . Repository: https://github.com/ais-2026-anonymous/ticketing-system . The materials/instructor directory contains the Teaching Notes, Instructor Solutions, and this deck. The student instructions and worksheets are in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d19ff9d56849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bed421a7e148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802882371a40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05c02c21494d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1be9b7627a4e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8b74b12da145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021291-3D2C-4C99-940B-0808C7301E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AF25C6-9A98-4AC0-82FE-D11874F6CC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7D991D-E784-4199-8E78-CE015A0150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E75780-5ECF-4F87-8498-7B82B5A3BA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B464D1-8F15-4B13-BA66-4B19C55EEE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6042E5-D8AB-4C78-9B1B-CDD7662F85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51B1F3-3393-4D1A-A637-70E0EFFE1F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F6A6B0-4920-4FD2-ACD6-901982FC83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FEE00D-4020-4076-836F-D9CE63FE52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B55288-E1B7-4006-A68B-23C8B07644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66fcbdcb9b40a4" /><Relationship Type="http://schemas.openxmlformats.org/officeDocument/2006/relationships/slideLayout" Target="/ppt/slideLayouts/slideLayout1.xml" Id="Rca8a5573a55641d3" /><Relationship Type="http://schemas.openxmlformats.org/officeDocument/2006/relationships/slideLayout" Target="/ppt/slideLayouts/slideLayout2.xml" Id="Rd1c6881725d2495e" /><Relationship Type="http://schemas.openxmlformats.org/officeDocument/2006/relationships/slideLayout" Target="/ppt/slideLayouts/slideLayout3.xml" Id="Rd8ad503f85b54f44" /><Relationship Type="http://schemas.openxmlformats.org/officeDocument/2006/relationships/slideLayout" Target="/ppt/slideLayouts/slideLayout4.xml" Id="Rdda005f5919c4102" /><Relationship Type="http://schemas.openxmlformats.org/officeDocument/2006/relationships/slideLayout" Target="/ppt/slideLayouts/slideLayout5.xml" Id="R0b7552f7032c4f7f" /><Relationship Type="http://schemas.openxmlformats.org/officeDocument/2006/relationships/slideLayout" Target="/ppt/slideLayouts/slideLayout6.xml" Id="R2f4ee9baa9a54e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8a5573a55641d3"/>
    <p:sldLayoutId xmlns:r="http://schemas.openxmlformats.org/officeDocument/2006/relationships" id="2147483650" r:id="Rd1c6881725d2495e"/>
    <p:sldLayoutId xmlns:r="http://schemas.openxmlformats.org/officeDocument/2006/relationships" id="2147483651" r:id="Rd8ad503f85b54f44"/>
    <p:sldLayoutId xmlns:r="http://schemas.openxmlformats.org/officeDocument/2006/relationships" id="2147483652" r:id="Rdda005f5919c4102"/>
    <p:sldLayoutId xmlns:r="http://schemas.openxmlformats.org/officeDocument/2006/relationships" id="2147483653" r:id="R0b7552f7032c4f7f"/>
    <p:sldLayoutId xmlns:r="http://schemas.openxmlformats.org/officeDocument/2006/relationships" id="2147483654" r:id="R2f4ee9baa9a54e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a258d992f432441f"/><Relationship Type="http://schemas.openxmlformats.org/officeDocument/2006/relationships/notesSlide" Target="/ppt/notesSlides/notesSlide1.xml" Id="R349af9725e8d4aa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5c76f05359e84931"/><Relationship Type="http://schemas.openxmlformats.org/officeDocument/2006/relationships/notesSlide" Target="/ppt/notesSlides/notesSlide2.xml" Id="Rb6bf3fb651414497"/><Relationship Id="rIdResource3" Type="http://schemas.openxmlformats.org/officeDocument/2006/relationships/hyperlink" Target="https://ais-2026-anonymous.github.io/ticketing-system/"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a0cc00b93216407e"/><Relationship Type="http://schemas.openxmlformats.org/officeDocument/2006/relationships/notesSlide" Target="/ppt/notesSlides/notesSlide3.xml" Id="R854537037c31466e"/></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e151f826401470e"/><Relationship Type="http://schemas.openxmlformats.org/officeDocument/2006/relationships/notesSlide" Target="/ppt/notesSlides/notesSlide4.xml" Id="R11c8d80f07154cd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d0ec849ae5c6405b"/><Relationship Type="http://schemas.openxmlformats.org/officeDocument/2006/relationships/notesSlide" Target="/ppt/notesSlides/notesSlide5.xml" Id="Rc16a9198aefb4772"/></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dc1177b61afa455f"/><Relationship Type="http://schemas.openxmlformats.org/officeDocument/2006/relationships/notesSlide" Target="/ppt/notesSlides/notesSlide6.xml" Id="Rc5a19ff5574b4c4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5f173bbb87cc4eb2"/><Relationship Type="http://schemas.openxmlformats.org/officeDocument/2006/relationships/image" Target="/ppt/media/image.jpeg" Id="R8b20a3abe56a4677"/><Relationship Type="http://schemas.openxmlformats.org/officeDocument/2006/relationships/notesSlide" Target="/ppt/notesSlides/notesSlide7.xml" Id="R75acd18567244c3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81219ce109204b38"/><Relationship Type="http://schemas.openxmlformats.org/officeDocument/2006/relationships/notesSlide" Target="/ppt/notesSlides/notesSlide8.xml" Id="Rba64464a2a214441"/></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57430f70ceaa4a8b"/><Relationship Type="http://schemas.openxmlformats.org/officeDocument/2006/relationships/notesSlide" Target="/ppt/notesSlides/notesSlide9.xml" Id="Rdbb081b64508422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6592de38f615444d"/><Relationship Type="http://schemas.openxmlformats.org/officeDocument/2006/relationships/notesSlide" Target="/ppt/notesSlides/notesSlide10.xml" Id="Raf3c96f01b4b408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68337eee70944972"/><Relationship Type="http://schemas.openxmlformats.org/officeDocument/2006/relationships/notesSlide" Target="/ppt/notesSlides/notesSlide11.xml" Id="Rdf36a241a56d434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148a3808045644a0"/><Relationship Type="http://schemas.openxmlformats.org/officeDocument/2006/relationships/notesSlide" Target="/ppt/notesSlides/notesSlide12.xml" Id="R18d6086826af4c5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1a70d4c88c114831"/><Relationship Type="http://schemas.openxmlformats.org/officeDocument/2006/relationships/notesSlide" Target="/ppt/notesSlides/notesSlide13.xml" Id="R7194a6346b964cb7"/></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8ac3e19dae874304"/><Relationship Type="http://schemas.openxmlformats.org/officeDocument/2006/relationships/notesSlide" Target="/ppt/notesSlides/notesSlide14.xml" Id="Ra5087bac670545e0"/><Relationship Id="rIdResource3" Type="http://schemas.openxmlformats.org/officeDocument/2006/relationships/hyperlink" Target="https://youtu.be/YJUvlqT4zYw" TargetMode="External"/><Relationship Id="rIdResource4" Type="http://schemas.openxmlformats.org/officeDocument/2006/relationships/hyperlink" Target="https://youtu.be/u1Z670PWvwY" TargetMode="External"/><Relationship Id="rIdResource5" Type="http://schemas.openxmlformats.org/officeDocument/2006/relationships/hyperlink" Target="https://youtu.be/EGJwitU4Nos" TargetMode="External"/><Relationship Id="rIdResource6" Type="http://schemas.openxmlformats.org/officeDocument/2006/relationships/hyperlink" Target="https://github.com/ais-2026-anonymous/ticketing-system" TargetMode="Externa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EDE503-7977-4050-B45B-3261D5442A3B}"/>
              </a:ext>
            </a:extLst>
          </p:cNvPr>
          <p:cNvSpPr>
            <a:spLocks xmlns:a="http://schemas.openxmlformats.org/drawingml/2006/main" noGrp="1"/>
          </p:cNvSpPr>
          <p:nvPr/>
        </p:nvSpPr>
        <p:spPr>
          <a:xfrm xmlns:a="http://schemas.openxmlformats.org/drawingml/2006/main">
            <a:off x="685800" y="1143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76092"/>
                </a:solidFill>
                <a:latin typeface="Arial"/>
                <a:ea typeface="Arial"/>
                <a:cs typeface="Arial"/>
              </a:defRPr>
            </a:defPPr>
          </a:lstStyle>
          <a:p xmlns:a="http://schemas.openxmlformats.org/drawingml/2006/main">
            <a:pPr>
              <a:defRPr sz="4800" b="1">
                <a:solidFill>
                  <a:srgbClr val="376092"/>
                </a:solidFill>
                <a:latin typeface="Arial"/>
                <a:ea typeface="Arial"/>
                <a:cs typeface="Arial"/>
              </a:defRPr>
            </a:pPr>
            <a:r>
              <a:rPr sz="4800" b="1">
                <a:solidFill>
                  <a:srgbClr val="376092"/>
                </a:solidFill>
                <a:latin typeface="Arial"/>
                <a:ea typeface="Arial"/>
                <a:cs typeface="Arial"/>
              </a:rPr>
              <a:t>SeatGate IT Audit</a:t>
            </a:r>
          </a:p>
        </p:txBody>
      </p:sp>
      <p:sp>
        <p:nvSpPr>
          <p:cNvPr id="2" name="">
            <a:extLst xmlns:a="http://schemas.openxmlformats.org/drawingml/2006/main">
              <a:ext uri="{FF2B5EF4-FFF2-40B4-BE49-F238E27FC236}">
                <a16:creationId xmlns:a16="http://schemas.microsoft.com/office/drawing/2014/main" id="{12F0057F-558C-4B32-9642-9044ABAC161E}"/>
              </a:ext>
            </a:extLst>
          </p:cNvPr>
          <p:cNvSpPr>
            <a:spLocks xmlns:a="http://schemas.openxmlformats.org/drawingml/2006/main" noGrp="1"/>
          </p:cNvSpPr>
          <p:nvPr/>
        </p:nvSpPr>
        <p:spPr>
          <a:xfrm xmlns:a="http://schemas.openxmlformats.org/drawingml/2006/main">
            <a:off x="723900" y="2362200"/>
            <a:ext cx="10744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11111"/>
                </a:solidFill>
                <a:latin typeface="Arial"/>
                <a:ea typeface="Arial"/>
                <a:cs typeface="Arial"/>
              </a:defRPr>
            </a:defPPr>
          </a:lstStyle>
          <a:p xmlns:a="http://schemas.openxmlformats.org/drawingml/2006/main">
            <a:pPr>
              <a:defRPr sz="3000" b="1">
                <a:solidFill>
                  <a:srgbClr val="111111"/>
                </a:solidFill>
                <a:latin typeface="Arial"/>
                <a:ea typeface="Arial"/>
                <a:cs typeface="Arial"/>
              </a:defRPr>
            </a:pPr>
            <a:r>
              <a:rPr sz="3000" b="1">
                <a:solidFill>
                  <a:srgbClr val="111111"/>
                </a:solidFill>
                <a:latin typeface="Arial"/>
                <a:ea typeface="Arial"/>
                <a:cs typeface="Arial"/>
              </a:rPr>
              <a:t>Instructor Guide</a:t>
            </a:r>
          </a:p>
        </p:txBody>
      </p:sp>
      <p:sp>
        <p:nvSpPr>
          <p:cNvPr id="3" name="">
            <a:extLst xmlns:a="http://schemas.openxmlformats.org/drawingml/2006/main">
              <a:ext uri="{FF2B5EF4-FFF2-40B4-BE49-F238E27FC236}">
                <a16:creationId xmlns:a16="http://schemas.microsoft.com/office/drawing/2014/main" id="{E3E135E0-1130-406A-87A2-B22E71761F89}"/>
              </a:ext>
            </a:extLst>
          </p:cNvPr>
          <p:cNvSpPr>
            <a:spLocks xmlns:a="http://schemas.openxmlformats.org/drawingml/2006/main" noGrp="1"/>
          </p:cNvSpPr>
          <p:nvPr/>
        </p:nvSpPr>
        <p:spPr>
          <a:xfrm xmlns:a="http://schemas.openxmlformats.org/drawingml/2006/main">
            <a:off x="723900" y="3333750"/>
            <a:ext cx="10744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11111"/>
                </a:solidFill>
                <a:latin typeface="Arial"/>
                <a:ea typeface="Arial"/>
                <a:cs typeface="Arial"/>
              </a:defRPr>
            </a:defPPr>
          </a:lstStyle>
          <a:p xmlns:a="http://schemas.openxmlformats.org/drawingml/2006/main">
            <a:pPr>
              <a:defRPr sz="2550" b="0">
                <a:solidFill>
                  <a:srgbClr val="111111"/>
                </a:solidFill>
                <a:latin typeface="Arial"/>
                <a:ea typeface="Arial"/>
                <a:cs typeface="Arial"/>
              </a:defRPr>
            </a:pPr>
            <a:r>
              <a:rPr sz="2550" b="0">
                <a:solidFill>
                  <a:srgbClr val="111111"/>
                </a:solidFill>
                <a:latin typeface="Arial"/>
                <a:ea typeface="Arial"/>
                <a:cs typeface="Arial"/>
              </a:rPr>
              <a:t>Using a Sandboxed Ticketing Website to Teach</a:t>
            </a:r>
          </a:p>
          <a:p xmlns:a="http://schemas.openxmlformats.org/drawingml/2006/main">
            <a:pPr>
              <a:defRPr sz="2550" b="0">
                <a:solidFill>
                  <a:srgbClr val="111111"/>
                </a:solidFill>
                <a:latin typeface="Arial"/>
                <a:ea typeface="Arial"/>
                <a:cs typeface="Arial"/>
              </a:defRPr>
            </a:pPr>
            <a:r>
              <a:rPr sz="2550" b="0">
                <a:solidFill>
                  <a:srgbClr val="111111"/>
                </a:solidFill>
                <a:latin typeface="Arial"/>
                <a:ea typeface="Arial"/>
                <a:cs typeface="Arial"/>
              </a:rPr>
              <a:t>Digital Trust and IT Audit</a:t>
            </a:r>
          </a:p>
        </p:txBody>
      </p:sp>
      <p:sp>
        <p:nvSpPr>
          <p:cNvPr id="4" name="">
            <a:extLst xmlns:a="http://schemas.openxmlformats.org/drawingml/2006/main">
              <a:ext uri="{FF2B5EF4-FFF2-40B4-BE49-F238E27FC236}">
                <a16:creationId xmlns:a16="http://schemas.microsoft.com/office/drawing/2014/main" id="{DA70DBED-8774-4210-A351-E32270E2A6F4}"/>
              </a:ext>
            </a:extLst>
          </p:cNvPr>
          <p:cNvSpPr>
            <a:spLocks xmlns:a="http://schemas.openxmlformats.org/drawingml/2006/main" noGrp="1"/>
          </p:cNvSpPr>
          <p:nvPr/>
        </p:nvSpPr>
        <p:spPr>
          <a:xfrm xmlns:a="http://schemas.openxmlformats.org/drawingml/2006/main">
            <a:off x="723900" y="5238750"/>
            <a:ext cx="1074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05050"/>
                </a:solidFill>
                <a:latin typeface="Arial"/>
                <a:ea typeface="Arial"/>
                <a:cs typeface="Arial"/>
              </a:defRPr>
            </a:defPPr>
          </a:lstStyle>
          <a:p xmlns:a="http://schemas.openxmlformats.org/drawingml/2006/main">
            <a:pPr>
              <a:defRPr sz="2025" b="0">
                <a:solidFill>
                  <a:srgbClr val="505050"/>
                </a:solidFill>
                <a:latin typeface="Arial"/>
                <a:ea typeface="Arial"/>
                <a:cs typeface="Arial"/>
              </a:defRPr>
            </a:pPr>
            <a:r>
              <a:rPr sz="2025" b="0">
                <a:solidFill>
                  <a:srgbClr val="505050"/>
                </a:solidFill>
                <a:latin typeface="Arial"/>
                <a:ea typeface="Arial"/>
                <a:cs typeface="Arial"/>
              </a:rPr>
              <a:t>Classroom preparation, demonstration, and debrief</a:t>
            </a:r>
          </a:p>
        </p:txBody>
      </p:sp>
    </p:spTree>
    <p:extLst>
      <p:ext uri="{BB962C8B-B14F-4D97-AF65-F5344CB8AC3E}">
        <p14:creationId xmlns:p14="http://schemas.microsoft.com/office/powerpoint/2010/main" val="18784906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DE390D-736E-4F85-87BA-8FD0680BEF07}"/>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Instructor Preparation</a:t>
            </a:r>
          </a:p>
        </p:txBody>
      </p:sp>
      <p:sp>
        <p:nvSpPr>
          <p:cNvPr id="2" name="">
            <a:extLst xmlns:a="http://schemas.openxmlformats.org/drawingml/2006/main">
              <a:ext uri="{FF2B5EF4-FFF2-40B4-BE49-F238E27FC236}">
                <a16:creationId xmlns:a16="http://schemas.microsoft.com/office/drawing/2014/main" id="{8146A6AC-5610-4E9A-BE84-EED937D32084}"/>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65D64D39-4DB3-4465-B103-AA647BFA118F}"/>
              </a:ext>
            </a:extLst>
            <ns0:hlinkClick xmlns:ns0="http://schemas.openxmlformats.org/drawingml/2006/main" xmlns:ns1="http://schemas.openxmlformats.org/officeDocument/2006/relationships" ns1:id="rIdResource3"/>
          </p:cNvPr>
          <p:cNvSpPr>
            <a:spLocks xmlns:a="http://schemas.openxmlformats.org/drawingml/2006/main" noGrp="1"/>
          </p:cNvSpPr>
          <p:nvPr/>
        </p:nvSpPr>
        <p:spPr>
          <a:xfrm xmlns:a="http://schemas.openxmlformats.org/drawingml/2006/main">
            <a:off x="685800" y="1333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Maintained website</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https://ais-2026-anonymous.github.io/ticketing-system/</a:t>
            </a:r>
          </a:p>
        </p:txBody>
      </p:sp>
      <p:sp>
        <p:nvSpPr>
          <p:cNvPr id="4" name="">
            <a:extLst xmlns:a="http://schemas.openxmlformats.org/drawingml/2006/main">
              <a:ext uri="{FF2B5EF4-FFF2-40B4-BE49-F238E27FC236}">
                <a16:creationId xmlns:a16="http://schemas.microsoft.com/office/drawing/2014/main" id="{34E5A574-43A7-4148-8D02-3DB1020E26BC}"/>
              </a:ext>
            </a:extLst>
          </p:cNvPr>
          <p:cNvSpPr>
            <a:spLocks xmlns:a="http://schemas.openxmlformats.org/drawingml/2006/main" noGrp="1"/>
          </p:cNvSpPr>
          <p:nvPr/>
        </p:nvSpPr>
        <p:spPr>
          <a:xfrm xmlns:a="http://schemas.openxmlformats.org/drawingml/2006/main">
            <a:off x="685800" y="24003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Admin account: admin</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Default password: adminpass2</a:t>
            </a:r>
          </a:p>
        </p:txBody>
      </p:sp>
      <p:sp>
        <p:nvSpPr>
          <p:cNvPr id="5" name="">
            <a:extLst xmlns:a="http://schemas.openxmlformats.org/drawingml/2006/main">
              <a:ext uri="{FF2B5EF4-FFF2-40B4-BE49-F238E27FC236}">
                <a16:creationId xmlns:a16="http://schemas.microsoft.com/office/drawing/2014/main" id="{13BFF9F9-8E66-43BC-80E2-73238F5C6B77}"/>
              </a:ext>
            </a:extLst>
          </p:cNvPr>
          <p:cNvSpPr>
            <a:spLocks xmlns:a="http://schemas.openxmlformats.org/drawingml/2006/main" noGrp="1"/>
          </p:cNvSpPr>
          <p:nvPr/>
        </p:nvSpPr>
        <p:spPr>
          <a:xfrm xmlns:a="http://schemas.openxmlformats.org/drawingml/2006/main">
            <a:off x="685800" y="34671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50 student accounts: student1 through student50</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Each initial password is the same as its username</a:t>
            </a:r>
          </a:p>
        </p:txBody>
      </p:sp>
      <p:sp>
        <p:nvSpPr>
          <p:cNvPr id="6" name="">
            <a:extLst xmlns:a="http://schemas.openxmlformats.org/drawingml/2006/main">
              <a:ext uri="{FF2B5EF4-FFF2-40B4-BE49-F238E27FC236}">
                <a16:creationId xmlns:a16="http://schemas.microsoft.com/office/drawing/2014/main" id="{60712BBC-413B-4B64-8F39-ADE5BFCAA270}"/>
              </a:ext>
            </a:extLst>
          </p:cNvPr>
          <p:cNvSpPr>
            <a:spLocks xmlns:a="http://schemas.openxmlformats.org/drawingml/2006/main" noGrp="1"/>
          </p:cNvSpPr>
          <p:nvPr/>
        </p:nvSpPr>
        <p:spPr>
          <a:xfrm xmlns:a="http://schemas.openxmlformats.org/drawingml/2006/main">
            <a:off x="685800" y="4533900"/>
            <a:ext cx="10744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Check the configured ticket limit and inventory.</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Distribute the instructions and one worksheet version.</a:t>
            </a:r>
          </a:p>
        </p:txBody>
      </p:sp>
    </p:spTree>
    <p:extLst>
      <p:ext uri="{BB962C8B-B14F-4D97-AF65-F5344CB8AC3E}">
        <p14:creationId xmlns:p14="http://schemas.microsoft.com/office/powerpoint/2010/main" val="17249607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FF8AF2-AF64-4F8B-AA00-A32DE445C6FA}"/>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Two Student Templates</a:t>
            </a:r>
          </a:p>
        </p:txBody>
      </p:sp>
      <p:sp>
        <p:nvSpPr>
          <p:cNvPr id="2" name="">
            <a:extLst xmlns:a="http://schemas.openxmlformats.org/drawingml/2006/main">
              <a:ext uri="{FF2B5EF4-FFF2-40B4-BE49-F238E27FC236}">
                <a16:creationId xmlns:a16="http://schemas.microsoft.com/office/drawing/2014/main" id="{90A27082-768B-4BEA-B1CD-5C4B050CA728}"/>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941FE7FA-7A69-47F0-8407-4D9E2FBF280E}"/>
              </a:ext>
            </a:extLst>
          </p:cNvPr>
          <p:cNvGraphicFramePr/>
          <p:nvPr/>
        </p:nvGraphicFramePr>
        <p:xfrm>
          <a:off xmlns:a="http://schemas.openxmlformats.org/drawingml/2006/main" x="609600" y="1390650"/>
          <a:ext xmlns:a="http://schemas.openxmlformats.org/drawingml/2006/main" cx="10972800" cy="3714750"/>
        </p:xfrm>
        <a:graphic xmlns:a="http://schemas.openxmlformats.org/drawingml/2006/main">
          <a:graphicData uri="http://schemas.openxmlformats.org/drawingml/2006/table">
            <a:tbl>
              <a:tblPr/>
              <a:tblGrid>
                <a:gridCol w="5486400"/>
                <a:gridCol w="5486400"/>
              </a:tblGrid>
              <a:tr h="619125">
                <a:tc>
                  <a:txBody>
                    <a:bodyPr/>
                    <a:lstStyle/>
                    <a:p>
                      <a:r>
                        <a:rPr sz="1875" b="1">
                          <a:solidFill>
                            <a:srgbClr val="FFFFFF"/>
                          </a:solidFill>
                          <a:latin typeface="Arial"/>
                          <a:ea typeface="Arial"/>
                          <a:cs typeface="Arial"/>
                        </a:rPr>
                        <a:t>Standard Version 1</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75" b="1">
                          <a:solidFill>
                            <a:srgbClr val="FFFFFF"/>
                          </a:solidFill>
                          <a:latin typeface="Arial"/>
                          <a:ea typeface="Arial"/>
                          <a:cs typeface="Arial"/>
                        </a:rPr>
                        <a:t>Alternative Version 2</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619125">
                <a:tc>
                  <a:txBody>
                    <a:bodyPr/>
                    <a:lstStyle/>
                    <a:p>
                      <a:r>
                        <a:rPr sz="1875" b="0">
                          <a:solidFill>
                            <a:srgbClr val="111111"/>
                          </a:solidFill>
                          <a:latin typeface="Arial"/>
                          <a:ea typeface="Arial"/>
                          <a:cs typeface="Arial"/>
                        </a:rPr>
                        <a:t>COBIT 2019 framework questions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Website transaction discovery</a:t>
                      </a:r>
                    </a:p>
                  </a:txBody>
                  <a:tcPr marL="91440" marR="91440" marT="45720" marB="45720">
                    <a:lnR w="9525">
                      <a:solidFill>
                        <a:srgbClr val="C7CDD3"/>
                      </a:solidFill>
                      <a:prstDash val="solid"/>
                    </a:lnR>
                    <a:lnB w="9525">
                      <a:solidFill>
                        <a:srgbClr val="C7CDD3"/>
                      </a:solidFill>
                      <a:prstDash val="solid"/>
                    </a:lnB>
                    <a:solidFill>
                      <a:srgbClr val="FFFFFF"/>
                    </a:solidFill>
                  </a:tcPr>
                </a:tc>
              </a:tr>
              <a:tr h="619125">
                <a:tc>
                  <a:txBody>
                    <a:bodyPr/>
                    <a:lstStyle/>
                    <a:p>
                      <a:r>
                        <a:rPr sz="1875" b="0">
                          <a:solidFill>
                            <a:srgbClr val="111111"/>
                          </a:solidFill>
                          <a:latin typeface="Arial"/>
                          <a:ea typeface="Arial"/>
                          <a:cs typeface="Arial"/>
                        </a:rPr>
                        <a:t>Website discovery and process narrative</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75" b="0">
                          <a:solidFill>
                            <a:srgbClr val="111111"/>
                          </a:solidFill>
                          <a:latin typeface="Arial"/>
                          <a:ea typeface="Arial"/>
                          <a:cs typeface="Arial"/>
                        </a:rPr>
                        <a:t>Short process narrative</a:t>
                      </a:r>
                    </a:p>
                  </a:txBody>
                  <a:tcPr marL="91440" marR="91440" marT="45720" marB="45720">
                    <a:lnR w="9525">
                      <a:solidFill>
                        <a:srgbClr val="C7CDD3"/>
                      </a:solidFill>
                      <a:prstDash val="solid"/>
                    </a:lnR>
                    <a:lnB w="9525">
                      <a:solidFill>
                        <a:srgbClr val="C7CDD3"/>
                      </a:solidFill>
                      <a:prstDash val="solid"/>
                    </a:lnB>
                    <a:solidFill>
                      <a:srgbClr val="E9EFF5"/>
                    </a:solidFill>
                  </a:tcPr>
                </a:tc>
              </a:tr>
              <a:tr h="619125">
                <a:tc>
                  <a:txBody>
                    <a:bodyPr/>
                    <a:lstStyle/>
                    <a:p>
                      <a:r>
                        <a:rPr sz="1875" b="0">
                          <a:solidFill>
                            <a:srgbClr val="111111"/>
                          </a:solidFill>
                          <a:latin typeface="Arial"/>
                          <a:ea typeface="Arial"/>
                          <a:cs typeface="Arial"/>
                        </a:rPr>
                        <a:t>Automation observations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Automation observations</a:t>
                      </a:r>
                    </a:p>
                  </a:txBody>
                  <a:tcPr marL="91440" marR="91440" marT="45720" marB="45720">
                    <a:lnR w="9525">
                      <a:solidFill>
                        <a:srgbClr val="C7CDD3"/>
                      </a:solidFill>
                      <a:prstDash val="solid"/>
                    </a:lnR>
                    <a:lnB w="9525">
                      <a:solidFill>
                        <a:srgbClr val="C7CDD3"/>
                      </a:solidFill>
                      <a:prstDash val="solid"/>
                    </a:lnB>
                    <a:solidFill>
                      <a:srgbClr val="FFFFFF"/>
                    </a:solidFill>
                  </a:tcPr>
                </a:tc>
              </a:tr>
              <a:tr h="619125">
                <a:tc>
                  <a:txBody>
                    <a:bodyPr/>
                    <a:lstStyle/>
                    <a:p>
                      <a:r>
                        <a:rPr sz="1875" b="0">
                          <a:solidFill>
                            <a:srgbClr val="111111"/>
                          </a:solidFill>
                          <a:latin typeface="Arial"/>
                          <a:ea typeface="Arial"/>
                          <a:cs typeface="Arial"/>
                        </a:rPr>
                        <a:t>Six-policy evaluation</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75" b="0">
                          <a:solidFill>
                            <a:srgbClr val="111111"/>
                          </a:solidFill>
                          <a:latin typeface="Arial"/>
                          <a:ea typeface="Arial"/>
                          <a:cs typeface="Arial"/>
                        </a:rPr>
                        <a:t>Internal-control review</a:t>
                      </a:r>
                    </a:p>
                  </a:txBody>
                  <a:tcPr marL="91440" marR="91440" marT="45720" marB="45720">
                    <a:lnR w="9525">
                      <a:solidFill>
                        <a:srgbClr val="C7CDD3"/>
                      </a:solidFill>
                      <a:prstDash val="solid"/>
                    </a:lnR>
                    <a:lnB w="9525">
                      <a:solidFill>
                        <a:srgbClr val="C7CDD3"/>
                      </a:solidFill>
                      <a:prstDash val="solid"/>
                    </a:lnB>
                    <a:solidFill>
                      <a:srgbClr val="E9EFF5"/>
                    </a:solidFill>
                  </a:tcPr>
                </a:tc>
              </a:tr>
              <a:tr h="619125">
                <a:tc>
                  <a:txBody>
                    <a:bodyPr/>
                    <a:lstStyle/>
                    <a:p>
                      <a:r>
                        <a:rPr sz="1875" b="0">
                          <a:solidFill>
                            <a:srgbClr val="111111"/>
                          </a:solidFill>
                          <a:latin typeface="Arial"/>
                          <a:ea typeface="Arial"/>
                          <a:cs typeface="Arial"/>
                        </a:rPr>
                        <a:t>Internal-control review with COBIT mapping</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Class debrief questions</a:t>
                      </a:r>
                    </a:p>
                  </a:txBody>
                  <a:tcPr marL="91440" marR="91440" marT="45720" marB="45720">
                    <a:lnR w="9525">
                      <a:solidFill>
                        <a:srgbClr val="C7CDD3"/>
                      </a:solidFill>
                      <a:prstDash val="solid"/>
                    </a:lnR>
                    <a:lnB w="9525">
                      <a:solidFill>
                        <a:srgbClr val="C7CDD3"/>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DA72856-64A5-4B9D-919F-51173B265D4D}"/>
              </a:ext>
            </a:extLst>
          </p:cNvPr>
          <p:cNvSpPr>
            <a:spLocks xmlns:a="http://schemas.openxmlformats.org/drawingml/2006/main" noGrp="1"/>
          </p:cNvSpPr>
          <p:nvPr/>
        </p:nvSpPr>
        <p:spPr>
          <a:xfrm xmlns:a="http://schemas.openxmlformats.org/drawingml/2006/main">
            <a:off x="685800" y="55054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Use the same system and evidence with different amounts of written documentation.</a:t>
            </a:r>
          </a:p>
        </p:txBody>
      </p:sp>
    </p:spTree>
    <p:extLst>
      <p:ext uri="{BB962C8B-B14F-4D97-AF65-F5344CB8AC3E}">
        <p14:creationId xmlns:p14="http://schemas.microsoft.com/office/powerpoint/2010/main" val="581237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953BC6-A8D6-46B2-AB12-3133184AD212}"/>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The SeatGate Audit Engagement</a:t>
            </a:r>
          </a:p>
        </p:txBody>
      </p:sp>
      <p:sp>
        <p:nvSpPr>
          <p:cNvPr id="2" name="">
            <a:extLst xmlns:a="http://schemas.openxmlformats.org/drawingml/2006/main">
              <a:ext uri="{FF2B5EF4-FFF2-40B4-BE49-F238E27FC236}">
                <a16:creationId xmlns:a16="http://schemas.microsoft.com/office/drawing/2014/main" id="{D599E993-8FA4-4C9B-B0EF-3BFFC41CA017}"/>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67850E99-9293-4603-8939-F3B6FED53B4B}"/>
              </a:ext>
            </a:extLst>
          </p:cNvPr>
          <p:cNvSpPr>
            <a:spLocks xmlns:a="http://schemas.openxmlformats.org/drawingml/2006/main" noGrp="1"/>
          </p:cNvSpPr>
          <p:nvPr/>
        </p:nvSpPr>
        <p:spPr>
          <a:xfrm xmlns:a="http://schemas.openxmlformats.org/drawingml/2006/main">
            <a:off x="685800" y="1428750"/>
            <a:ext cx="10744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Students act as junior IT auditors at Rogers &amp; Rogers LLP.</a:t>
            </a:r>
          </a:p>
        </p:txBody>
      </p:sp>
      <p:sp>
        <p:nvSpPr>
          <p:cNvPr id="4" name="">
            <a:extLst xmlns:a="http://schemas.openxmlformats.org/drawingml/2006/main">
              <a:ext uri="{FF2B5EF4-FFF2-40B4-BE49-F238E27FC236}">
                <a16:creationId xmlns:a16="http://schemas.microsoft.com/office/drawing/2014/main" id="{358CA056-1B1F-4904-AA94-F826D4E51900}"/>
              </a:ext>
            </a:extLst>
          </p:cNvPr>
          <p:cNvSpPr>
            <a:spLocks xmlns:a="http://schemas.openxmlformats.org/drawingml/2006/main" noGrp="1"/>
          </p:cNvSpPr>
          <p:nvPr/>
        </p:nvSpPr>
        <p:spPr>
          <a:xfrm xmlns:a="http://schemas.openxmlformats.org/drawingml/2006/main">
            <a:off x="685800" y="2419350"/>
            <a:ext cx="10744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SeatGate distributes limited tickets for university events.</a:t>
            </a:r>
          </a:p>
        </p:txBody>
      </p:sp>
      <p:sp>
        <p:nvSpPr>
          <p:cNvPr id="5" name="">
            <a:extLst xmlns:a="http://schemas.openxmlformats.org/drawingml/2006/main">
              <a:ext uri="{FF2B5EF4-FFF2-40B4-BE49-F238E27FC236}">
                <a16:creationId xmlns:a16="http://schemas.microsoft.com/office/drawing/2014/main" id="{F1826A18-3628-4817-A5E2-9E66D47E261A}"/>
              </a:ext>
            </a:extLst>
          </p:cNvPr>
          <p:cNvSpPr>
            <a:spLocks xmlns:a="http://schemas.openxmlformats.org/drawingml/2006/main" noGrp="1"/>
          </p:cNvSpPr>
          <p:nvPr/>
        </p:nvSpPr>
        <p:spPr>
          <a:xfrm xmlns:a="http://schemas.openxmlformats.org/drawingml/2006/main">
            <a:off x="685800" y="3409950"/>
            <a:ext cx="10744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Management suspects automated scripts after tickets sell out almost immediately.</a:t>
            </a:r>
          </a:p>
        </p:txBody>
      </p:sp>
      <p:sp>
        <p:nvSpPr>
          <p:cNvPr id="6" name="">
            <a:extLst xmlns:a="http://schemas.openxmlformats.org/drawingml/2006/main">
              <a:ext uri="{FF2B5EF4-FFF2-40B4-BE49-F238E27FC236}">
                <a16:creationId xmlns:a16="http://schemas.microsoft.com/office/drawing/2014/main" id="{61CEC93A-B434-4B80-8D30-FBEBF8162C5A}"/>
              </a:ext>
            </a:extLst>
          </p:cNvPr>
          <p:cNvSpPr>
            <a:spLocks xmlns:a="http://schemas.openxmlformats.org/drawingml/2006/main" noGrp="1"/>
          </p:cNvSpPr>
          <p:nvPr/>
        </p:nvSpPr>
        <p:spPr>
          <a:xfrm xmlns:a="http://schemas.openxmlformats.org/drawingml/2006/main">
            <a:off x="685800" y="4400550"/>
            <a:ext cx="10744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The engagement evaluates whether stated policies are enforced and supported by audit evidence.</a:t>
            </a:r>
          </a:p>
        </p:txBody>
      </p:sp>
    </p:spTree>
    <p:extLst>
      <p:ext uri="{BB962C8B-B14F-4D97-AF65-F5344CB8AC3E}">
        <p14:creationId xmlns:p14="http://schemas.microsoft.com/office/powerpoint/2010/main" val="10976438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D0A448A-214B-4B3E-9957-9A08474DBDF5}"/>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SeatGate's Six Stated Policies</a:t>
            </a:r>
          </a:p>
        </p:txBody>
      </p:sp>
      <p:sp>
        <p:nvSpPr>
          <p:cNvPr id="2" name="">
            <a:extLst xmlns:a="http://schemas.openxmlformats.org/drawingml/2006/main">
              <a:ext uri="{FF2B5EF4-FFF2-40B4-BE49-F238E27FC236}">
                <a16:creationId xmlns:a16="http://schemas.microsoft.com/office/drawing/2014/main" id="{3E9AF288-84F2-4938-9288-FC89CEEEE5CC}"/>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443A1A0A-4FFE-4870-95D8-60E472099566}"/>
              </a:ext>
            </a:extLst>
          </p:cNvPr>
          <p:cNvGraphicFramePr/>
          <p:nvPr/>
        </p:nvGraphicFramePr>
        <p:xfrm>
          <a:off xmlns:a="http://schemas.openxmlformats.org/drawingml/2006/main" x="609600" y="1390650"/>
          <a:ext xmlns:a="http://schemas.openxmlformats.org/drawingml/2006/main" cx="10972800" cy="4400550"/>
        </p:xfrm>
        <a:graphic xmlns:a="http://schemas.openxmlformats.org/drawingml/2006/main">
          <a:graphicData uri="http://schemas.openxmlformats.org/drawingml/2006/table">
            <a:tbl>
              <a:tblPr/>
              <a:tblGrid>
                <a:gridCol w="1047750"/>
                <a:gridCol w="9925050"/>
              </a:tblGrid>
              <a:tr h="628650">
                <a:tc>
                  <a:txBody>
                    <a:bodyPr/>
                    <a:lstStyle/>
                    <a:p>
                      <a:r>
                        <a:rPr sz="1875" b="1">
                          <a:solidFill>
                            <a:srgbClr val="FFFFFF"/>
                          </a:solidFill>
                          <a:latin typeface="Arial"/>
                          <a:ea typeface="Arial"/>
                          <a:cs typeface="Arial"/>
                        </a:rPr>
                        <a:t>Policy</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75" b="1">
                          <a:solidFill>
                            <a:srgbClr val="FFFFFF"/>
                          </a:solidFill>
                          <a:latin typeface="Arial"/>
                          <a:ea typeface="Arial"/>
                          <a:cs typeface="Arial"/>
                        </a:rPr>
                        <a:t>Stated Requirement</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628650">
                <a:tc>
                  <a:txBody>
                    <a:bodyPr/>
                    <a:lstStyle/>
                    <a:p>
                      <a:r>
                        <a:rPr sz="1875" b="0">
                          <a:solidFill>
                            <a:srgbClr val="111111"/>
                          </a:solidFill>
                          <a:latin typeface="Arial"/>
                          <a:ea typeface="Arial"/>
                          <a:cs typeface="Arial"/>
                        </a:rPr>
                        <a:t>1</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Each student user may purchase no more than one ticket per event.</a:t>
                      </a:r>
                    </a:p>
                  </a:txBody>
                  <a:tcPr marL="91440" marR="91440" marT="45720" marB="45720">
                    <a:lnR w="9525">
                      <a:solidFill>
                        <a:srgbClr val="C7CDD3"/>
                      </a:solidFill>
                      <a:prstDash val="solid"/>
                    </a:lnR>
                    <a:lnB w="9525">
                      <a:solidFill>
                        <a:srgbClr val="C7CDD3"/>
                      </a:solidFill>
                      <a:prstDash val="solid"/>
                    </a:lnB>
                    <a:solidFill>
                      <a:srgbClr val="FFFFFF"/>
                    </a:solidFill>
                  </a:tcPr>
                </a:tc>
              </a:tr>
              <a:tr h="628650">
                <a:tc>
                  <a:txBody>
                    <a:bodyPr/>
                    <a:lstStyle/>
                    <a:p>
                      <a:r>
                        <a:rPr sz="1875" b="0">
                          <a:solidFill>
                            <a:srgbClr val="111111"/>
                          </a:solidFill>
                          <a:latin typeface="Arial"/>
                          <a:ea typeface="Arial"/>
                          <a:cs typeface="Arial"/>
                        </a:rPr>
                        <a:t>2</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75" b="0">
                          <a:solidFill>
                            <a:srgbClr val="111111"/>
                          </a:solidFill>
                          <a:latin typeface="Arial"/>
                          <a:ea typeface="Arial"/>
                          <a:cs typeface="Arial"/>
                        </a:rPr>
                        <a:t>Only valid users are able to complete purchases.</a:t>
                      </a:r>
                    </a:p>
                  </a:txBody>
                  <a:tcPr marL="91440" marR="91440" marT="45720" marB="45720">
                    <a:lnR w="9525">
                      <a:solidFill>
                        <a:srgbClr val="C7CDD3"/>
                      </a:solidFill>
                      <a:prstDash val="solid"/>
                    </a:lnR>
                    <a:lnB w="9525">
                      <a:solidFill>
                        <a:srgbClr val="C7CDD3"/>
                      </a:solidFill>
                      <a:prstDash val="solid"/>
                    </a:lnB>
                    <a:solidFill>
                      <a:srgbClr val="E9EFF5"/>
                    </a:solidFill>
                  </a:tcPr>
                </a:tc>
              </a:tr>
              <a:tr h="628650">
                <a:tc>
                  <a:txBody>
                    <a:bodyPr/>
                    <a:lstStyle/>
                    <a:p>
                      <a:r>
                        <a:rPr sz="1875" b="0">
                          <a:solidFill>
                            <a:srgbClr val="111111"/>
                          </a:solidFill>
                          <a:latin typeface="Arial"/>
                          <a:ea typeface="Arial"/>
                          <a:cs typeface="Arial"/>
                        </a:rPr>
                        <a:t>3</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Ticket inventory should update immediately after each sale.</a:t>
                      </a:r>
                    </a:p>
                  </a:txBody>
                  <a:tcPr marL="91440" marR="91440" marT="45720" marB="45720">
                    <a:lnR w="9525">
                      <a:solidFill>
                        <a:srgbClr val="C7CDD3"/>
                      </a:solidFill>
                      <a:prstDash val="solid"/>
                    </a:lnR>
                    <a:lnB w="9525">
                      <a:solidFill>
                        <a:srgbClr val="C7CDD3"/>
                      </a:solidFill>
                      <a:prstDash val="solid"/>
                    </a:lnB>
                    <a:solidFill>
                      <a:srgbClr val="FFFFFF"/>
                    </a:solidFill>
                  </a:tcPr>
                </a:tc>
              </a:tr>
              <a:tr h="628650">
                <a:tc>
                  <a:txBody>
                    <a:bodyPr/>
                    <a:lstStyle/>
                    <a:p>
                      <a:r>
                        <a:rPr sz="1875" b="0">
                          <a:solidFill>
                            <a:srgbClr val="111111"/>
                          </a:solidFill>
                          <a:latin typeface="Arial"/>
                          <a:ea typeface="Arial"/>
                          <a:cs typeface="Arial"/>
                        </a:rPr>
                        <a:t>4</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75" b="0">
                          <a:solidFill>
                            <a:srgbClr val="111111"/>
                          </a:solidFill>
                          <a:latin typeface="Arial"/>
                          <a:ea typeface="Arial"/>
                          <a:cs typeface="Arial"/>
                        </a:rPr>
                        <a:t>Automated or suspicious purchasing behavior should be logged, and an exception report should be generated.</a:t>
                      </a:r>
                    </a:p>
                  </a:txBody>
                  <a:tcPr marL="91440" marR="91440" marT="45720" marB="45720">
                    <a:lnR w="9525">
                      <a:solidFill>
                        <a:srgbClr val="C7CDD3"/>
                      </a:solidFill>
                      <a:prstDash val="solid"/>
                    </a:lnR>
                    <a:lnB w="9525">
                      <a:solidFill>
                        <a:srgbClr val="C7CDD3"/>
                      </a:solidFill>
                      <a:prstDash val="solid"/>
                    </a:lnB>
                    <a:solidFill>
                      <a:srgbClr val="E9EFF5"/>
                    </a:solidFill>
                  </a:tcPr>
                </a:tc>
              </a:tr>
              <a:tr h="628650">
                <a:tc>
                  <a:txBody>
                    <a:bodyPr/>
                    <a:lstStyle/>
                    <a:p>
                      <a:r>
                        <a:rPr sz="1875" b="0">
                          <a:solidFill>
                            <a:srgbClr val="111111"/>
                          </a:solidFill>
                          <a:latin typeface="Arial"/>
                          <a:ea typeface="Arial"/>
                          <a:cs typeface="Arial"/>
                        </a:rPr>
                        <a:t>5</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Every ticket purchased should have a timestamp in the admin view.</a:t>
                      </a:r>
                    </a:p>
                  </a:txBody>
                  <a:tcPr marL="91440" marR="91440" marT="45720" marB="45720">
                    <a:lnR w="9525">
                      <a:solidFill>
                        <a:srgbClr val="C7CDD3"/>
                      </a:solidFill>
                      <a:prstDash val="solid"/>
                    </a:lnR>
                    <a:lnB w="9525">
                      <a:solidFill>
                        <a:srgbClr val="C7CDD3"/>
                      </a:solidFill>
                      <a:prstDash val="solid"/>
                    </a:lnB>
                    <a:solidFill>
                      <a:srgbClr val="FFFFFF"/>
                    </a:solidFill>
                  </a:tcPr>
                </a:tc>
              </a:tr>
              <a:tr h="628650">
                <a:tc>
                  <a:txBody>
                    <a:bodyPr/>
                    <a:lstStyle/>
                    <a:p>
                      <a:r>
                        <a:rPr sz="1875" b="0">
                          <a:solidFill>
                            <a:srgbClr val="111111"/>
                          </a:solidFill>
                          <a:latin typeface="Arial"/>
                          <a:ea typeface="Arial"/>
                          <a:cs typeface="Arial"/>
                        </a:rPr>
                        <a:t>6</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75" b="0">
                          <a:solidFill>
                            <a:srgbClr val="111111"/>
                          </a:solidFill>
                          <a:latin typeface="Arial"/>
                          <a:ea typeface="Arial"/>
                          <a:cs typeface="Arial"/>
                        </a:rPr>
                        <a:t>Every ticket has a unique serial number.</a:t>
                      </a:r>
                    </a:p>
                  </a:txBody>
                  <a:tcPr marL="91440" marR="91440" marT="45720" marB="45720">
                    <a:lnR w="9525">
                      <a:solidFill>
                        <a:srgbClr val="C7CDD3"/>
                      </a:solidFill>
                      <a:prstDash val="solid"/>
                    </a:lnR>
                    <a:lnB w="9525">
                      <a:solidFill>
                        <a:srgbClr val="C7CDD3"/>
                      </a:solidFill>
                      <a:prstDash val="solid"/>
                    </a:lnB>
                    <a:solidFill>
                      <a:srgbClr val="E9EFF5"/>
                    </a:solidFill>
                  </a:tcPr>
                </a:tc>
              </a:tr>
            </a:tbl>
          </a:graphicData>
        </a:graphic>
      </p:graphicFrame>
    </p:spTree>
    <p:extLst>
      <p:ext uri="{BB962C8B-B14F-4D97-AF65-F5344CB8AC3E}">
        <p14:creationId xmlns:p14="http://schemas.microsoft.com/office/powerpoint/2010/main" val="2876399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BEDCA6A-3367-44CD-B402-6B5F7417A934}"/>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Classroom Activity Flow</a:t>
            </a:r>
          </a:p>
        </p:txBody>
      </p:sp>
      <p:sp>
        <p:nvSpPr>
          <p:cNvPr id="2" name="">
            <a:extLst xmlns:a="http://schemas.openxmlformats.org/drawingml/2006/main">
              <a:ext uri="{FF2B5EF4-FFF2-40B4-BE49-F238E27FC236}">
                <a16:creationId xmlns:a16="http://schemas.microsoft.com/office/drawing/2014/main" id="{E07F7389-9FB3-4C3A-B25F-EBEFB8098EA5}"/>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6</a:t>
            </a:r>
          </a:p>
        </p:txBody>
      </p:sp>
      <p:graphicFrame>
        <p:nvGraphicFramePr>
          <p:cNvPr id="3" name="">
            <a:extLst xmlns:a="http://schemas.openxmlformats.org/drawingml/2006/main">
              <a:ext uri="{FF2B5EF4-FFF2-40B4-BE49-F238E27FC236}">
                <a16:creationId xmlns:a16="http://schemas.microsoft.com/office/drawing/2014/main" id="{8B253110-8B69-4592-9DB8-BD6383D38A7D}"/>
              </a:ext>
            </a:extLst>
          </p:cNvPr>
          <p:cNvGraphicFramePr/>
          <p:nvPr/>
        </p:nvGraphicFramePr>
        <p:xfrm>
          <a:off xmlns:a="http://schemas.openxmlformats.org/drawingml/2006/main" x="609600" y="1390650"/>
          <a:ext xmlns:a="http://schemas.openxmlformats.org/drawingml/2006/main" cx="10972800" cy="4572000"/>
        </p:xfrm>
        <a:graphic xmlns:a="http://schemas.openxmlformats.org/drawingml/2006/main">
          <a:graphicData uri="http://schemas.openxmlformats.org/drawingml/2006/table">
            <a:tbl>
              <a:tblPr/>
              <a:tblGrid>
                <a:gridCol w="952500"/>
                <a:gridCol w="7639050"/>
                <a:gridCol w="2381250"/>
              </a:tblGrid>
              <a:tr h="571500">
                <a:tc>
                  <a:txBody>
                    <a:bodyPr/>
                    <a:lstStyle/>
                    <a:p>
                      <a:r>
                        <a:rPr sz="1800" b="1">
                          <a:solidFill>
                            <a:srgbClr val="FFFFFF"/>
                          </a:solidFill>
                          <a:latin typeface="Arial"/>
                          <a:ea typeface="Arial"/>
                          <a:cs typeface="Arial"/>
                        </a:rPr>
                        <a:t>Phase</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00" b="1">
                          <a:solidFill>
                            <a:srgbClr val="FFFFFF"/>
                          </a:solidFill>
                          <a:latin typeface="Arial"/>
                          <a:ea typeface="Arial"/>
                          <a:cs typeface="Arial"/>
                        </a:rPr>
                        <a:t>Activity</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00" b="1">
                          <a:solidFill>
                            <a:srgbClr val="FFFFFF"/>
                          </a:solidFill>
                          <a:latin typeface="Arial"/>
                          <a:ea typeface="Arial"/>
                          <a:cs typeface="Arial"/>
                        </a:rPr>
                        <a:t>Suggested Time</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571500">
                <a:tc>
                  <a:txBody>
                    <a:bodyPr/>
                    <a:lstStyle/>
                    <a:p>
                      <a:r>
                        <a:rPr sz="1800" b="0">
                          <a:solidFill>
                            <a:srgbClr val="111111"/>
                          </a:solidFill>
                          <a:latin typeface="Arial"/>
                          <a:ea typeface="Arial"/>
                          <a:cs typeface="Arial"/>
                        </a:rPr>
                        <a:t>1</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Introduce the audit setting and stated policies</a:t>
                      </a:r>
                    </a:p>
                  </a:txBody>
                  <a:tcPr marL="91440" marR="91440" marT="45720" marB="45720">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15-20 minutes</a:t>
                      </a:r>
                    </a:p>
                  </a:txBody>
                  <a:tcPr marL="91440" marR="91440" marT="45720" marB="45720">
                    <a:lnR w="9525">
                      <a:solidFill>
                        <a:srgbClr val="C7CDD3"/>
                      </a:solidFill>
                      <a:prstDash val="solid"/>
                    </a:lnR>
                    <a:lnB w="9525">
                      <a:solidFill>
                        <a:srgbClr val="C7CDD3"/>
                      </a:solidFill>
                      <a:prstDash val="solid"/>
                    </a:lnB>
                    <a:solidFill>
                      <a:srgbClr val="FFFFFF"/>
                    </a:solidFill>
                  </a:tcPr>
                </a:tc>
              </a:tr>
              <a:tr h="571500">
                <a:tc>
                  <a:txBody>
                    <a:bodyPr/>
                    <a:lstStyle/>
                    <a:p>
                      <a:r>
                        <a:rPr sz="1800" b="0">
                          <a:solidFill>
                            <a:srgbClr val="111111"/>
                          </a:solidFill>
                          <a:latin typeface="Arial"/>
                          <a:ea typeface="Arial"/>
                          <a:cs typeface="Arial"/>
                        </a:rPr>
                        <a:t>2</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Trial event and website transaction discovery</a:t>
                      </a:r>
                    </a:p>
                  </a:txBody>
                  <a:tcPr marL="91440" marR="91440" marT="45720" marB="45720">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5-10 minutes</a:t>
                      </a:r>
                    </a:p>
                  </a:txBody>
                  <a:tcPr marL="91440" marR="91440" marT="45720" marB="45720">
                    <a:lnR w="9525">
                      <a:solidFill>
                        <a:srgbClr val="C7CDD3"/>
                      </a:solidFill>
                      <a:prstDash val="solid"/>
                    </a:lnR>
                    <a:lnB w="9525">
                      <a:solidFill>
                        <a:srgbClr val="C7CDD3"/>
                      </a:solidFill>
                      <a:prstDash val="solid"/>
                    </a:lnB>
                    <a:solidFill>
                      <a:srgbClr val="E9EFF5"/>
                    </a:solidFill>
                  </a:tcPr>
                </a:tc>
              </a:tr>
              <a:tr h="571500">
                <a:tc>
                  <a:txBody>
                    <a:bodyPr/>
                    <a:lstStyle/>
                    <a:p>
                      <a:r>
                        <a:rPr sz="1800" b="0">
                          <a:solidFill>
                            <a:srgbClr val="111111"/>
                          </a:solidFill>
                          <a:latin typeface="Arial"/>
                          <a:ea typeface="Arial"/>
                          <a:cs typeface="Arial"/>
                        </a:rPr>
                        <a:t>3</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One main ticket-drop event</a:t>
                      </a:r>
                    </a:p>
                  </a:txBody>
                  <a:tcPr marL="91440" marR="91440" marT="45720" marB="45720">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10-20 minutes</a:t>
                      </a:r>
                    </a:p>
                  </a:txBody>
                  <a:tcPr marL="91440" marR="91440" marT="45720" marB="45720">
                    <a:lnR w="9525">
                      <a:solidFill>
                        <a:srgbClr val="C7CDD3"/>
                      </a:solidFill>
                      <a:prstDash val="solid"/>
                    </a:lnR>
                    <a:lnB w="9525">
                      <a:solidFill>
                        <a:srgbClr val="C7CDD3"/>
                      </a:solidFill>
                      <a:prstDash val="solid"/>
                    </a:lnB>
                    <a:solidFill>
                      <a:srgbClr val="FFFFFF"/>
                    </a:solidFill>
                  </a:tcPr>
                </a:tc>
              </a:tr>
              <a:tr h="571500">
                <a:tc>
                  <a:txBody>
                    <a:bodyPr/>
                    <a:lstStyle/>
                    <a:p>
                      <a:r>
                        <a:rPr sz="1800" b="0">
                          <a:solidFill>
                            <a:srgbClr val="111111"/>
                          </a:solidFill>
                          <a:latin typeface="Arial"/>
                          <a:ea typeface="Arial"/>
                          <a:cs typeface="Arial"/>
                        </a:rPr>
                        <a:t>4</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Controlled automation demonstration</a:t>
                      </a:r>
                    </a:p>
                  </a:txBody>
                  <a:tcPr marL="91440" marR="91440" marT="45720" marB="45720">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10-20 minutes</a:t>
                      </a:r>
                    </a:p>
                  </a:txBody>
                  <a:tcPr marL="91440" marR="91440" marT="45720" marB="45720">
                    <a:lnR w="9525">
                      <a:solidFill>
                        <a:srgbClr val="C7CDD3"/>
                      </a:solidFill>
                      <a:prstDash val="solid"/>
                    </a:lnR>
                    <a:lnB w="9525">
                      <a:solidFill>
                        <a:srgbClr val="C7CDD3"/>
                      </a:solidFill>
                      <a:prstDash val="solid"/>
                    </a:lnB>
                    <a:solidFill>
                      <a:srgbClr val="E9EFF5"/>
                    </a:solidFill>
                  </a:tcPr>
                </a:tc>
              </a:tr>
              <a:tr h="571500">
                <a:tc>
                  <a:txBody>
                    <a:bodyPr/>
                    <a:lstStyle/>
                    <a:p>
                      <a:r>
                        <a:rPr sz="1800" b="0">
                          <a:solidFill>
                            <a:srgbClr val="111111"/>
                          </a:solidFill>
                          <a:latin typeface="Arial"/>
                          <a:ea typeface="Arial"/>
                          <a:cs typeface="Arial"/>
                        </a:rPr>
                        <a:t>5</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Backend evidence review</a:t>
                      </a:r>
                    </a:p>
                  </a:txBody>
                  <a:tcPr marL="91440" marR="91440" marT="45720" marB="45720">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10-20 minutes</a:t>
                      </a:r>
                    </a:p>
                  </a:txBody>
                  <a:tcPr marL="91440" marR="91440" marT="45720" marB="45720">
                    <a:lnR w="9525">
                      <a:solidFill>
                        <a:srgbClr val="C7CDD3"/>
                      </a:solidFill>
                      <a:prstDash val="solid"/>
                    </a:lnR>
                    <a:lnB w="9525">
                      <a:solidFill>
                        <a:srgbClr val="C7CDD3"/>
                      </a:solidFill>
                      <a:prstDash val="solid"/>
                    </a:lnB>
                    <a:solidFill>
                      <a:srgbClr val="FFFFFF"/>
                    </a:solidFill>
                  </a:tcPr>
                </a:tc>
              </a:tr>
              <a:tr h="571500">
                <a:tc>
                  <a:txBody>
                    <a:bodyPr/>
                    <a:lstStyle/>
                    <a:p>
                      <a:r>
                        <a:rPr sz="1800" b="0">
                          <a:solidFill>
                            <a:srgbClr val="111111"/>
                          </a:solidFill>
                          <a:latin typeface="Arial"/>
                          <a:ea typeface="Arial"/>
                          <a:cs typeface="Arial"/>
                        </a:rPr>
                        <a:t>6</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Policy evaluation and internal-control review</a:t>
                      </a:r>
                    </a:p>
                  </a:txBody>
                  <a:tcPr marL="91440" marR="91440" marT="45720" marB="45720">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10-15 minutes</a:t>
                      </a:r>
                    </a:p>
                  </a:txBody>
                  <a:tcPr marL="91440" marR="91440" marT="45720" marB="45720">
                    <a:lnR w="9525">
                      <a:solidFill>
                        <a:srgbClr val="C7CDD3"/>
                      </a:solidFill>
                      <a:prstDash val="solid"/>
                    </a:lnR>
                    <a:lnB w="9525">
                      <a:solidFill>
                        <a:srgbClr val="C7CDD3"/>
                      </a:solidFill>
                      <a:prstDash val="solid"/>
                    </a:lnB>
                    <a:solidFill>
                      <a:srgbClr val="E9EFF5"/>
                    </a:solidFill>
                  </a:tcPr>
                </a:tc>
              </a:tr>
              <a:tr h="571500">
                <a:tc>
                  <a:txBody>
                    <a:bodyPr/>
                    <a:lstStyle/>
                    <a:p>
                      <a:r>
                        <a:rPr sz="1800" b="0">
                          <a:solidFill>
                            <a:srgbClr val="111111"/>
                          </a:solidFill>
                          <a:latin typeface="Arial"/>
                          <a:ea typeface="Arial"/>
                          <a:cs typeface="Arial"/>
                        </a:rPr>
                        <a:t>7</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Class debrief</a:t>
                      </a:r>
                    </a:p>
                  </a:txBody>
                  <a:tcPr marL="91440" marR="91440" marT="45720" marB="45720">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10-15 minutes</a:t>
                      </a:r>
                    </a:p>
                  </a:txBody>
                  <a:tcPr marL="91440" marR="91440" marT="45720" marB="45720">
                    <a:lnR w="9525">
                      <a:solidFill>
                        <a:srgbClr val="C7CDD3"/>
                      </a:solidFill>
                      <a:prstDash val="solid"/>
                    </a:lnR>
                    <a:lnB w="9525">
                      <a:solidFill>
                        <a:srgbClr val="C7CDD3"/>
                      </a:solidFill>
                      <a:prstDash val="solid"/>
                    </a:lnB>
                    <a:solidFill>
                      <a:srgbClr val="FFFFFF"/>
                    </a:solidFill>
                  </a:tcPr>
                </a:tc>
              </a:tr>
            </a:tbl>
          </a:graphicData>
        </a:graphic>
      </p:graphicFrame>
    </p:spTree>
    <p:extLst>
      <p:ext uri="{BB962C8B-B14F-4D97-AF65-F5344CB8AC3E}">
        <p14:creationId xmlns:p14="http://schemas.microsoft.com/office/powerpoint/2010/main" val="21320290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F785EB-D93A-494C-9C3E-0F78D9FF19C7}"/>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Administrator Panel and Audit Evidence</a:t>
            </a:r>
          </a:p>
        </p:txBody>
      </p:sp>
      <p:sp>
        <p:nvSpPr>
          <p:cNvPr id="2" name="">
            <a:extLst xmlns:a="http://schemas.openxmlformats.org/drawingml/2006/main">
              <a:ext uri="{FF2B5EF4-FFF2-40B4-BE49-F238E27FC236}">
                <a16:creationId xmlns:a16="http://schemas.microsoft.com/office/drawing/2014/main" id="{218846B2-5D12-4673-B146-574F78F93B56}"/>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7</a:t>
            </a:r>
          </a:p>
        </p:txBody>
      </p:sp>
      <p:pic>
        <p:nvPicPr>
          <p:cNvPr id="3" name="">
            <a:extLst xmlns:a="http://schemas.openxmlformats.org/drawingml/2006/main">
              <a:ext uri="{FF2B5EF4-FFF2-40B4-BE49-F238E27FC236}">
                <a16:creationId xmlns:a16="http://schemas.microsoft.com/office/drawing/2014/main" id="{AA8B6B82-6402-47D3-88A1-F91DD12C8389}"/>
              </a:ext>
            </a:extLst>
          </p:cNvPr>
          <p:cNvPicPr>
            <a:picLocks xmlns:a="http://schemas.openxmlformats.org/drawingml/2006/main" noChangeAspect="1"/>
          </p:cNvPicPr>
          <p:nvPr/>
        </p:nvPicPr>
        <p:blipFill>
          <a:blip xmlns:r="http://schemas.openxmlformats.org/officeDocument/2006/relationships" xmlns:a="http://schemas.openxmlformats.org/drawingml/2006/main" r:embed="R8b20a3abe56a4677"/>
          <a:stretch xmlns:a="http://schemas.openxmlformats.org/drawingml/2006/main"/>
        </p:blipFill>
        <p:spPr>
          <a:xfrm xmlns:a="http://schemas.openxmlformats.org/drawingml/2006/main">
            <a:off x="2288341" y="1295400"/>
            <a:ext cx="7615318" cy="428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658FF2-C3F2-4253-90EE-D6E6A5014F9A}"/>
              </a:ext>
            </a:extLst>
          </p:cNvPr>
          <p:cNvSpPr>
            <a:spLocks xmlns:a="http://schemas.openxmlformats.org/drawingml/2006/main" noGrp="1"/>
          </p:cNvSpPr>
          <p:nvPr/>
        </p:nvSpPr>
        <p:spPr>
          <a:xfrm xmlns:a="http://schemas.openxmlformats.org/drawingml/2006/main">
            <a:off x="685800" y="577215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Compare user holdings, tickets sold, revenue, and remaining inventory.</a:t>
            </a:r>
          </a:p>
        </p:txBody>
      </p:sp>
    </p:spTree>
    <p:extLst>
      <p:ext uri="{BB962C8B-B14F-4D97-AF65-F5344CB8AC3E}">
        <p14:creationId xmlns:p14="http://schemas.microsoft.com/office/powerpoint/2010/main" val="10567300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2445AF-6A92-4FD8-88C0-21239C67317A}"/>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Controlled Five-Ticket Purchase</a:t>
            </a:r>
          </a:p>
        </p:txBody>
      </p:sp>
      <p:sp>
        <p:nvSpPr>
          <p:cNvPr id="2" name="">
            <a:extLst xmlns:a="http://schemas.openxmlformats.org/drawingml/2006/main">
              <a:ext uri="{FF2B5EF4-FFF2-40B4-BE49-F238E27FC236}">
                <a16:creationId xmlns:a16="http://schemas.microsoft.com/office/drawing/2014/main" id="{B6566419-89FC-4182-AB73-0E525BC711D2}"/>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AD18C5DC-02C9-444F-AC1E-E7D8582F7321}"/>
              </a:ext>
            </a:extLst>
          </p:cNvPr>
          <p:cNvGraphicFramePr/>
          <p:nvPr/>
        </p:nvGraphicFramePr>
        <p:xfrm>
          <a:off xmlns:a="http://schemas.openxmlformats.org/drawingml/2006/main" x="609600" y="1390650"/>
          <a:ext xmlns:a="http://schemas.openxmlformats.org/drawingml/2006/main" cx="10972800" cy="3429000"/>
        </p:xfrm>
        <a:graphic xmlns:a="http://schemas.openxmlformats.org/drawingml/2006/main">
          <a:graphicData uri="http://schemas.openxmlformats.org/drawingml/2006/table">
            <a:tbl>
              <a:tblPr/>
              <a:tblGrid>
                <a:gridCol w="952500"/>
                <a:gridCol w="10020300"/>
              </a:tblGrid>
              <a:tr h="685800">
                <a:tc>
                  <a:txBody>
                    <a:bodyPr/>
                    <a:lstStyle/>
                    <a:p>
                      <a:r>
                        <a:rPr sz="2025" b="1">
                          <a:solidFill>
                            <a:srgbClr val="FFFFFF"/>
                          </a:solidFill>
                          <a:latin typeface="Arial"/>
                          <a:ea typeface="Arial"/>
                          <a:cs typeface="Arial"/>
                        </a:rPr>
                        <a:t>Step</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2025" b="1">
                          <a:solidFill>
                            <a:srgbClr val="FFFFFF"/>
                          </a:solidFill>
                          <a:latin typeface="Arial"/>
                          <a:ea typeface="Arial"/>
                          <a:cs typeface="Arial"/>
                        </a:rPr>
                        <a:t>Instructor Action</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685800">
                <a:tc>
                  <a:txBody>
                    <a:bodyPr/>
                    <a:lstStyle/>
                    <a:p>
                      <a:r>
                        <a:rPr sz="2025" b="0">
                          <a:solidFill>
                            <a:srgbClr val="111111"/>
                          </a:solidFill>
                          <a:latin typeface="Arial"/>
                          <a:ea typeface="Arial"/>
                          <a:cs typeface="Arial"/>
                        </a:rPr>
                        <a:t>1</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2025" b="0">
                          <a:solidFill>
                            <a:srgbClr val="111111"/>
                          </a:solidFill>
                          <a:latin typeface="Arial"/>
                          <a:ea typeface="Arial"/>
                          <a:cs typeface="Arial"/>
                        </a:rPr>
                        <a:t>Sign in using the admin account.</a:t>
                      </a:r>
                    </a:p>
                  </a:txBody>
                  <a:tcPr marL="91440" marR="91440" marT="45720" marB="45720">
                    <a:lnR w="9525">
                      <a:solidFill>
                        <a:srgbClr val="C7CDD3"/>
                      </a:solidFill>
                      <a:prstDash val="solid"/>
                    </a:lnR>
                    <a:lnB w="9525">
                      <a:solidFill>
                        <a:srgbClr val="C7CDD3"/>
                      </a:solidFill>
                      <a:prstDash val="solid"/>
                    </a:lnB>
                    <a:solidFill>
                      <a:srgbClr val="FFFFFF"/>
                    </a:solidFill>
                  </a:tcPr>
                </a:tc>
              </a:tr>
              <a:tr h="685800">
                <a:tc>
                  <a:txBody>
                    <a:bodyPr/>
                    <a:lstStyle/>
                    <a:p>
                      <a:r>
                        <a:rPr sz="2025" b="0">
                          <a:solidFill>
                            <a:srgbClr val="111111"/>
                          </a:solidFill>
                          <a:latin typeface="Arial"/>
                          <a:ea typeface="Arial"/>
                          <a:cs typeface="Arial"/>
                        </a:rPr>
                        <a:t>2</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2025" b="0">
                          <a:solidFill>
                            <a:srgbClr val="111111"/>
                          </a:solidFill>
                          <a:latin typeface="Arial"/>
                          <a:ea typeface="Arial"/>
                          <a:cs typeface="Arial"/>
                        </a:rPr>
                        <a:t>Open Automated Buy Demonstration and select a ticket class.</a:t>
                      </a:r>
                    </a:p>
                  </a:txBody>
                  <a:tcPr marL="91440" marR="91440" marT="45720" marB="45720">
                    <a:lnR w="9525">
                      <a:solidFill>
                        <a:srgbClr val="C7CDD3"/>
                      </a:solidFill>
                      <a:prstDash val="solid"/>
                    </a:lnR>
                    <a:lnB w="9525">
                      <a:solidFill>
                        <a:srgbClr val="C7CDD3"/>
                      </a:solidFill>
                      <a:prstDash val="solid"/>
                    </a:lnB>
                    <a:solidFill>
                      <a:srgbClr val="E9EFF5"/>
                    </a:solidFill>
                  </a:tcPr>
                </a:tc>
              </a:tr>
              <a:tr h="685800">
                <a:tc>
                  <a:txBody>
                    <a:bodyPr/>
                    <a:lstStyle/>
                    <a:p>
                      <a:r>
                        <a:rPr sz="2025" b="0">
                          <a:solidFill>
                            <a:srgbClr val="111111"/>
                          </a:solidFill>
                          <a:latin typeface="Arial"/>
                          <a:ea typeface="Arial"/>
                          <a:cs typeface="Arial"/>
                        </a:rPr>
                        <a:t>3</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2025" b="0">
                          <a:solidFill>
                            <a:srgbClr val="111111"/>
                          </a:solidFill>
                          <a:latin typeface="Arial"/>
                          <a:ea typeface="Arial"/>
                          <a:cs typeface="Arial"/>
                        </a:rPr>
                        <a:t>Set quantity to five and click Buy Tickets.</a:t>
                      </a:r>
                    </a:p>
                  </a:txBody>
                  <a:tcPr marL="91440" marR="91440" marT="45720" marB="45720">
                    <a:lnR w="9525">
                      <a:solidFill>
                        <a:srgbClr val="C7CDD3"/>
                      </a:solidFill>
                      <a:prstDash val="solid"/>
                    </a:lnR>
                    <a:lnB w="9525">
                      <a:solidFill>
                        <a:srgbClr val="C7CDD3"/>
                      </a:solidFill>
                      <a:prstDash val="solid"/>
                    </a:lnB>
                    <a:solidFill>
                      <a:srgbClr val="FFFFFF"/>
                    </a:solidFill>
                  </a:tcPr>
                </a:tc>
              </a:tr>
              <a:tr h="685800">
                <a:tc>
                  <a:txBody>
                    <a:bodyPr/>
                    <a:lstStyle/>
                    <a:p>
                      <a:r>
                        <a:rPr sz="2025" b="0">
                          <a:solidFill>
                            <a:srgbClr val="111111"/>
                          </a:solidFill>
                          <a:latin typeface="Arial"/>
                          <a:ea typeface="Arial"/>
                          <a:cs typeface="Arial"/>
                        </a:rPr>
                        <a:t>4</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2025" b="0">
                          <a:solidFill>
                            <a:srgbClr val="111111"/>
                          </a:solidFill>
                          <a:latin typeface="Arial"/>
                          <a:ea typeface="Arial"/>
                          <a:cs typeface="Arial"/>
                        </a:rPr>
                        <a:t>Return to the admin panel and confirm holdings and inventory changes.</a:t>
                      </a:r>
                    </a:p>
                  </a:txBody>
                  <a:tcPr marL="91440" marR="91440" marT="45720" marB="45720">
                    <a:lnR w="9525">
                      <a:solidFill>
                        <a:srgbClr val="C7CDD3"/>
                      </a:solidFill>
                      <a:prstDash val="solid"/>
                    </a:lnR>
                    <a:lnB w="9525">
                      <a:solidFill>
                        <a:srgbClr val="C7CDD3"/>
                      </a:solidFill>
                      <a:prstDash val="solid"/>
                    </a:lnB>
                    <a:solidFill>
                      <a:srgbClr val="E9EFF5"/>
                    </a:solidFill>
                  </a:tcPr>
                </a:tc>
              </a:tr>
            </a:tbl>
          </a:graphicData>
        </a:graphic>
      </p:graphicFrame>
      <p:sp>
        <p:nvSpPr>
          <p:cNvPr id="4" name="">
            <a:extLst xmlns:a="http://schemas.openxmlformats.org/drawingml/2006/main">
              <a:ext uri="{FF2B5EF4-FFF2-40B4-BE49-F238E27FC236}">
                <a16:creationId xmlns:a16="http://schemas.microsoft.com/office/drawing/2014/main" id="{61A37C5C-9AB2-4957-9852-9950660EFAC0}"/>
              </a:ext>
            </a:extLst>
          </p:cNvPr>
          <p:cNvSpPr>
            <a:spLocks xmlns:a="http://schemas.openxmlformats.org/drawingml/2006/main" noGrp="1"/>
          </p:cNvSpPr>
          <p:nvPr/>
        </p:nvSpPr>
        <p:spPr>
          <a:xfrm xmlns:a="http://schemas.openxmlformats.org/drawingml/2006/main">
            <a:off x="685800" y="5238750"/>
            <a:ext cx="10744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Use a student account to test the stated purchase policy.</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The admin account is exempt from the student limit.</a:t>
            </a:r>
          </a:p>
        </p:txBody>
      </p:sp>
    </p:spTree>
    <p:extLst>
      <p:ext uri="{BB962C8B-B14F-4D97-AF65-F5344CB8AC3E}">
        <p14:creationId xmlns:p14="http://schemas.microsoft.com/office/powerpoint/2010/main" val="1974135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957F2AF-39FB-4B5B-94D5-6C9E1F839971}"/>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Backend Evidence Review</a:t>
            </a:r>
          </a:p>
        </p:txBody>
      </p:sp>
      <p:sp>
        <p:nvSpPr>
          <p:cNvPr id="2" name="">
            <a:extLst xmlns:a="http://schemas.openxmlformats.org/drawingml/2006/main">
              <a:ext uri="{FF2B5EF4-FFF2-40B4-BE49-F238E27FC236}">
                <a16:creationId xmlns:a16="http://schemas.microsoft.com/office/drawing/2014/main" id="{93F42FF5-C268-47B8-B78B-ABC5E7674915}"/>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9</a:t>
            </a:r>
          </a:p>
        </p:txBody>
      </p:sp>
      <p:graphicFrame>
        <p:nvGraphicFramePr>
          <p:cNvPr id="3" name="">
            <a:extLst xmlns:a="http://schemas.openxmlformats.org/drawingml/2006/main">
              <a:ext uri="{FF2B5EF4-FFF2-40B4-BE49-F238E27FC236}">
                <a16:creationId xmlns:a16="http://schemas.microsoft.com/office/drawing/2014/main" id="{044ECDF6-B8FC-4256-A3F7-021B048E6234}"/>
              </a:ext>
            </a:extLst>
          </p:cNvPr>
          <p:cNvGraphicFramePr/>
          <p:nvPr/>
        </p:nvGraphicFramePr>
        <p:xfrm>
          <a:off xmlns:a="http://schemas.openxmlformats.org/drawingml/2006/main" x="609600" y="1390650"/>
          <a:ext xmlns:a="http://schemas.openxmlformats.org/drawingml/2006/main" cx="10972800" cy="4381500"/>
        </p:xfrm>
        <a:graphic xmlns:a="http://schemas.openxmlformats.org/drawingml/2006/main">
          <a:graphicData uri="http://schemas.openxmlformats.org/drawingml/2006/table">
            <a:tbl>
              <a:tblPr/>
              <a:tblGrid>
                <a:gridCol w="4476750"/>
                <a:gridCol w="6496050"/>
              </a:tblGrid>
              <a:tr h="730250">
                <a:tc>
                  <a:txBody>
                    <a:bodyPr/>
                    <a:lstStyle/>
                    <a:p>
                      <a:r>
                        <a:rPr sz="1875" b="1">
                          <a:solidFill>
                            <a:srgbClr val="FFFFFF"/>
                          </a:solidFill>
                          <a:latin typeface="Arial"/>
                          <a:ea typeface="Arial"/>
                          <a:cs typeface="Arial"/>
                        </a:rPr>
                        <a:t>Evidence</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75" b="1">
                          <a:solidFill>
                            <a:srgbClr val="FFFFFF"/>
                          </a:solidFill>
                          <a:latin typeface="Arial"/>
                          <a:ea typeface="Arial"/>
                          <a:cs typeface="Arial"/>
                        </a:rPr>
                        <a:t>Audit Question</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730250">
                <a:tc>
                  <a:txBody>
                    <a:bodyPr/>
                    <a:lstStyle/>
                    <a:p>
                      <a:r>
                        <a:rPr sz="1875" b="0">
                          <a:solidFill>
                            <a:srgbClr val="111111"/>
                          </a:solidFill>
                          <a:latin typeface="Arial"/>
                          <a:ea typeface="Arial"/>
                          <a:cs typeface="Arial"/>
                        </a:rPr>
                        <a:t>User population and approved participant list</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Does every account correspond to an authorized user?</a:t>
                      </a:r>
                    </a:p>
                  </a:txBody>
                  <a:tcPr marL="91440" marR="91440" marT="45720" marB="45720">
                    <a:lnR w="9525">
                      <a:solidFill>
                        <a:srgbClr val="C7CDD3"/>
                      </a:solidFill>
                      <a:prstDash val="solid"/>
                    </a:lnR>
                    <a:lnB w="9525">
                      <a:solidFill>
                        <a:srgbClr val="C7CDD3"/>
                      </a:solidFill>
                      <a:prstDash val="solid"/>
                    </a:lnB>
                    <a:solidFill>
                      <a:srgbClr val="FFFFFF"/>
                    </a:solidFill>
                  </a:tcPr>
                </a:tc>
              </a:tr>
              <a:tr h="730250">
                <a:tc>
                  <a:txBody>
                    <a:bodyPr/>
                    <a:lstStyle/>
                    <a:p>
                      <a:r>
                        <a:rPr sz="1875" b="0">
                          <a:solidFill>
                            <a:srgbClr val="111111"/>
                          </a:solidFill>
                          <a:latin typeface="Arial"/>
                          <a:ea typeface="Arial"/>
                          <a:cs typeface="Arial"/>
                        </a:rPr>
                        <a:t>Ticket holdings and inventory</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75" b="0">
                          <a:solidFill>
                            <a:srgbClr val="111111"/>
                          </a:solidFill>
                          <a:latin typeface="Arial"/>
                          <a:ea typeface="Arial"/>
                          <a:cs typeface="Arial"/>
                        </a:rPr>
                        <a:t>Do recorded sales agree with changes in inventory?</a:t>
                      </a:r>
                    </a:p>
                  </a:txBody>
                  <a:tcPr marL="91440" marR="91440" marT="45720" marB="45720">
                    <a:lnR w="9525">
                      <a:solidFill>
                        <a:srgbClr val="C7CDD3"/>
                      </a:solidFill>
                      <a:prstDash val="solid"/>
                    </a:lnR>
                    <a:lnB w="9525">
                      <a:solidFill>
                        <a:srgbClr val="C7CDD3"/>
                      </a:solidFill>
                      <a:prstDash val="solid"/>
                    </a:lnB>
                    <a:solidFill>
                      <a:srgbClr val="E9EFF5"/>
                    </a:solidFill>
                  </a:tcPr>
                </a:tc>
              </a:tr>
              <a:tr h="730250">
                <a:tc>
                  <a:txBody>
                    <a:bodyPr/>
                    <a:lstStyle/>
                    <a:p>
                      <a:r>
                        <a:rPr sz="1875" b="0">
                          <a:solidFill>
                            <a:srgbClr val="111111"/>
                          </a:solidFill>
                          <a:latin typeface="Arial"/>
                          <a:ea typeface="Arial"/>
                          <a:cs typeface="Arial"/>
                        </a:rPr>
                        <a:t>Purchase requests and transaction logs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Was the transaction recorded and properly authorized?</a:t>
                      </a:r>
                    </a:p>
                  </a:txBody>
                  <a:tcPr marL="91440" marR="91440" marT="45720" marB="45720">
                    <a:lnR w="9525">
                      <a:solidFill>
                        <a:srgbClr val="C7CDD3"/>
                      </a:solidFill>
                      <a:prstDash val="solid"/>
                    </a:lnR>
                    <a:lnB w="9525">
                      <a:solidFill>
                        <a:srgbClr val="C7CDD3"/>
                      </a:solidFill>
                      <a:prstDash val="solid"/>
                    </a:lnB>
                    <a:solidFill>
                      <a:srgbClr val="FFFFFF"/>
                    </a:solidFill>
                  </a:tcPr>
                </a:tc>
              </a:tr>
              <a:tr h="730250">
                <a:tc>
                  <a:txBody>
                    <a:bodyPr/>
                    <a:lstStyle/>
                    <a:p>
                      <a:r>
                        <a:rPr sz="1875" b="0">
                          <a:solidFill>
                            <a:srgbClr val="111111"/>
                          </a:solidFill>
                          <a:latin typeface="Arial"/>
                          <a:ea typeface="Arial"/>
                          <a:cs typeface="Arial"/>
                        </a:rPr>
                        <a:t>Exception reports and monitoring records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75" b="0">
                          <a:solidFill>
                            <a:srgbClr val="111111"/>
                          </a:solidFill>
                          <a:latin typeface="Arial"/>
                          <a:ea typeface="Arial"/>
                          <a:cs typeface="Arial"/>
                        </a:rPr>
                        <a:t>Was suspicious purchasing identified and reviewed?</a:t>
                      </a:r>
                    </a:p>
                  </a:txBody>
                  <a:tcPr marL="91440" marR="91440" marT="45720" marB="45720">
                    <a:lnR w="9525">
                      <a:solidFill>
                        <a:srgbClr val="C7CDD3"/>
                      </a:solidFill>
                      <a:prstDash val="solid"/>
                    </a:lnR>
                    <a:lnB w="9525">
                      <a:solidFill>
                        <a:srgbClr val="C7CDD3"/>
                      </a:solidFill>
                      <a:prstDash val="solid"/>
                    </a:lnB>
                    <a:solidFill>
                      <a:srgbClr val="E9EFF5"/>
                    </a:solidFill>
                  </a:tcPr>
                </a:tc>
              </a:tr>
              <a:tr h="730250">
                <a:tc>
                  <a:txBody>
                    <a:bodyPr/>
                    <a:lstStyle/>
                    <a:p>
                      <a:r>
                        <a:rPr sz="1875" b="0">
                          <a:solidFill>
                            <a:srgbClr val="111111"/>
                          </a:solidFill>
                          <a:latin typeface="Arial"/>
                          <a:ea typeface="Arial"/>
                          <a:cs typeface="Arial"/>
                        </a:rPr>
                        <a:t>Timestamps and individual ticket identifiers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75" b="0">
                          <a:solidFill>
                            <a:srgbClr val="111111"/>
                          </a:solidFill>
                          <a:latin typeface="Arial"/>
                          <a:ea typeface="Arial"/>
                          <a:cs typeface="Arial"/>
                        </a:rPr>
                        <a:t>Can each ticket purchase be traced?</a:t>
                      </a:r>
                    </a:p>
                  </a:txBody>
                  <a:tcPr marL="91440" marR="91440" marT="45720" marB="45720">
                    <a:lnR w="9525">
                      <a:solidFill>
                        <a:srgbClr val="C7CDD3"/>
                      </a:solidFill>
                      <a:prstDash val="solid"/>
                    </a:lnR>
                    <a:lnB w="9525">
                      <a:solidFill>
                        <a:srgbClr val="C7CDD3"/>
                      </a:solidFill>
                      <a:prstDash val="solid"/>
                    </a:lnB>
                    <a:solidFill>
                      <a:srgbClr val="FFFFFF"/>
                    </a:solidFill>
                  </a:tcPr>
                </a:tc>
              </a:tr>
            </a:tbl>
          </a:graphicData>
        </a:graphic>
      </p:graphicFrame>
    </p:spTree>
    <p:extLst>
      <p:ext uri="{BB962C8B-B14F-4D97-AF65-F5344CB8AC3E}">
        <p14:creationId xmlns:p14="http://schemas.microsoft.com/office/powerpoint/2010/main" val="12638241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D0BF32-DA27-4CDA-BAF7-719FB98D94FA}"/>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Debrief: Expected Policy Evaluation</a:t>
            </a:r>
          </a:p>
        </p:txBody>
      </p:sp>
      <p:sp>
        <p:nvSpPr>
          <p:cNvPr id="2" name="">
            <a:extLst xmlns:a="http://schemas.openxmlformats.org/drawingml/2006/main">
              <a:ext uri="{FF2B5EF4-FFF2-40B4-BE49-F238E27FC236}">
                <a16:creationId xmlns:a16="http://schemas.microsoft.com/office/drawing/2014/main" id="{339BEF1D-0DD2-4B29-ABA6-CD1A85B58B9C}"/>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E807D6B9-7502-4404-8BED-5909D13CEDC9}"/>
              </a:ext>
            </a:extLst>
          </p:cNvPr>
          <p:cNvGraphicFramePr/>
          <p:nvPr/>
        </p:nvGraphicFramePr>
        <p:xfrm>
          <a:off xmlns:a="http://schemas.openxmlformats.org/drawingml/2006/main" x="609600" y="1390650"/>
          <a:ext xmlns:a="http://schemas.openxmlformats.org/drawingml/2006/main" cx="10972800" cy="4305300"/>
        </p:xfrm>
        <a:graphic xmlns:a="http://schemas.openxmlformats.org/drawingml/2006/main">
          <a:graphicData uri="http://schemas.openxmlformats.org/drawingml/2006/table">
            <a:tbl>
              <a:tblPr/>
              <a:tblGrid>
                <a:gridCol w="914400"/>
                <a:gridCol w="2524125"/>
                <a:gridCol w="7534275"/>
              </a:tblGrid>
              <a:tr h="615043">
                <a:tc>
                  <a:txBody>
                    <a:bodyPr/>
                    <a:lstStyle/>
                    <a:p>
                      <a:r>
                        <a:rPr sz="1800" b="1">
                          <a:solidFill>
                            <a:srgbClr val="FFFFFF"/>
                          </a:solidFill>
                          <a:latin typeface="Arial"/>
                          <a:ea typeface="Arial"/>
                          <a:cs typeface="Arial"/>
                        </a:rPr>
                        <a:t>Policy</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00" b="1">
                          <a:solidFill>
                            <a:srgbClr val="FFFFFF"/>
                          </a:solidFill>
                          <a:latin typeface="Arial"/>
                          <a:ea typeface="Arial"/>
                          <a:cs typeface="Arial"/>
                        </a:rPr>
                        <a:t>Expected Result</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00" b="1">
                          <a:solidFill>
                            <a:srgbClr val="FFFFFF"/>
                          </a:solidFill>
                          <a:latin typeface="Arial"/>
                          <a:ea typeface="Arial"/>
                          <a:cs typeface="Arial"/>
                        </a:rPr>
                        <a:t>Key Finding</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615043">
                <a:tc>
                  <a:txBody>
                    <a:bodyPr/>
                    <a:lstStyle/>
                    <a:p>
                      <a:r>
                        <a:rPr sz="1800" b="0">
                          <a:solidFill>
                            <a:srgbClr val="111111"/>
                          </a:solidFill>
                          <a:latin typeface="Arial"/>
                          <a:ea typeface="Arial"/>
                          <a:cs typeface="Arial"/>
                        </a:rPr>
                        <a:t>1</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Check configuration</a:t>
                      </a:r>
                    </a:p>
                  </a:txBody>
                  <a:tcPr marL="91440" marR="91440" marT="45720" marB="45720">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Compare the configured per-type limit with one ticket per event.</a:t>
                      </a:r>
                    </a:p>
                  </a:txBody>
                  <a:tcPr marL="91440" marR="91440" marT="45720" marB="45720">
                    <a:lnR w="9525">
                      <a:solidFill>
                        <a:srgbClr val="C7CDD3"/>
                      </a:solidFill>
                      <a:prstDash val="solid"/>
                    </a:lnR>
                    <a:lnB w="9525">
                      <a:solidFill>
                        <a:srgbClr val="C7CDD3"/>
                      </a:solidFill>
                      <a:prstDash val="solid"/>
                    </a:lnB>
                    <a:solidFill>
                      <a:srgbClr val="FFFFFF"/>
                    </a:solidFill>
                  </a:tcPr>
                </a:tc>
              </a:tr>
              <a:tr h="615043">
                <a:tc>
                  <a:txBody>
                    <a:bodyPr/>
                    <a:lstStyle/>
                    <a:p>
                      <a:r>
                        <a:rPr sz="1800" b="0">
                          <a:solidFill>
                            <a:srgbClr val="111111"/>
                          </a:solidFill>
                          <a:latin typeface="Arial"/>
                          <a:ea typeface="Arial"/>
                          <a:cs typeface="Arial"/>
                        </a:rPr>
                        <a:t>2</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Not fully working</a:t>
                      </a:r>
                    </a:p>
                  </a:txBody>
                  <a:tcPr marL="91440" marR="91440" marT="45720" marB="45720">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The fakebuyer account can purchase tickets.</a:t>
                      </a:r>
                    </a:p>
                  </a:txBody>
                  <a:tcPr marL="91440" marR="91440" marT="45720" marB="45720">
                    <a:lnR w="9525">
                      <a:solidFill>
                        <a:srgbClr val="C7CDD3"/>
                      </a:solidFill>
                      <a:prstDash val="solid"/>
                    </a:lnR>
                    <a:lnB w="9525">
                      <a:solidFill>
                        <a:srgbClr val="C7CDD3"/>
                      </a:solidFill>
                      <a:prstDash val="solid"/>
                    </a:lnB>
                    <a:solidFill>
                      <a:srgbClr val="E9EFF5"/>
                    </a:solidFill>
                  </a:tcPr>
                </a:tc>
              </a:tr>
              <a:tr h="615043">
                <a:tc>
                  <a:txBody>
                    <a:bodyPr/>
                    <a:lstStyle/>
                    <a:p>
                      <a:r>
                        <a:rPr sz="1800" b="0">
                          <a:solidFill>
                            <a:srgbClr val="111111"/>
                          </a:solidFill>
                          <a:latin typeface="Arial"/>
                          <a:ea typeface="Arial"/>
                          <a:cs typeface="Arial"/>
                        </a:rPr>
                        <a:t>3</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Working</a:t>
                      </a:r>
                    </a:p>
                  </a:txBody>
                  <a:tcPr marL="91440" marR="91440" marT="45720" marB="45720">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Successful purchases reduce remaining inventory.</a:t>
                      </a:r>
                    </a:p>
                  </a:txBody>
                  <a:tcPr marL="91440" marR="91440" marT="45720" marB="45720">
                    <a:lnR w="9525">
                      <a:solidFill>
                        <a:srgbClr val="C7CDD3"/>
                      </a:solidFill>
                      <a:prstDash val="solid"/>
                    </a:lnR>
                    <a:lnB w="9525">
                      <a:solidFill>
                        <a:srgbClr val="C7CDD3"/>
                      </a:solidFill>
                      <a:prstDash val="solid"/>
                    </a:lnB>
                    <a:solidFill>
                      <a:srgbClr val="FFFFFF"/>
                    </a:solidFill>
                  </a:tcPr>
                </a:tc>
              </a:tr>
              <a:tr h="615043">
                <a:tc>
                  <a:txBody>
                    <a:bodyPr/>
                    <a:lstStyle/>
                    <a:p>
                      <a:r>
                        <a:rPr sz="1800" b="0">
                          <a:solidFill>
                            <a:srgbClr val="111111"/>
                          </a:solidFill>
                          <a:latin typeface="Arial"/>
                          <a:ea typeface="Arial"/>
                          <a:cs typeface="Arial"/>
                        </a:rPr>
                        <a:t>4</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Evaluate reporting</a:t>
                      </a:r>
                    </a:p>
                  </a:txBody>
                  <a:tcPr marL="91440" marR="91440" marT="45720" marB="45720">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Review rate-limit logs, exception reports, and management follow-up.</a:t>
                      </a:r>
                    </a:p>
                  </a:txBody>
                  <a:tcPr marL="91440" marR="91440" marT="45720" marB="45720">
                    <a:lnR w="9525">
                      <a:solidFill>
                        <a:srgbClr val="C7CDD3"/>
                      </a:solidFill>
                      <a:prstDash val="solid"/>
                    </a:lnR>
                    <a:lnB w="9525">
                      <a:solidFill>
                        <a:srgbClr val="C7CDD3"/>
                      </a:solidFill>
                      <a:prstDash val="solid"/>
                    </a:lnB>
                    <a:solidFill>
                      <a:srgbClr val="E9EFF5"/>
                    </a:solidFill>
                  </a:tcPr>
                </a:tc>
              </a:tr>
              <a:tr h="615043">
                <a:tc>
                  <a:txBody>
                    <a:bodyPr/>
                    <a:lstStyle/>
                    <a:p>
                      <a:r>
                        <a:rPr sz="1800" b="0">
                          <a:solidFill>
                            <a:srgbClr val="111111"/>
                          </a:solidFill>
                          <a:latin typeface="Arial"/>
                          <a:ea typeface="Arial"/>
                          <a:cs typeface="Arial"/>
                        </a:rPr>
                        <a:t>5</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Not fully working</a:t>
                      </a:r>
                    </a:p>
                  </a:txBody>
                  <a:tcPr marL="91440" marR="91440" marT="45720" marB="45720">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The admin holdings view does not show each purchase timestamp.</a:t>
                      </a:r>
                    </a:p>
                  </a:txBody>
                  <a:tcPr marL="91440" marR="91440" marT="45720" marB="45720">
                    <a:lnR w="9525">
                      <a:solidFill>
                        <a:srgbClr val="C7CDD3"/>
                      </a:solidFill>
                      <a:prstDash val="solid"/>
                    </a:lnR>
                    <a:lnB w="9525">
                      <a:solidFill>
                        <a:srgbClr val="C7CDD3"/>
                      </a:solidFill>
                      <a:prstDash val="solid"/>
                    </a:lnB>
                    <a:solidFill>
                      <a:srgbClr val="FFFFFF"/>
                    </a:solidFill>
                  </a:tcPr>
                </a:tc>
              </a:tr>
              <a:tr h="615043">
                <a:tc>
                  <a:txBody>
                    <a:bodyPr/>
                    <a:lstStyle/>
                    <a:p>
                      <a:r>
                        <a:rPr sz="1800" b="0">
                          <a:solidFill>
                            <a:srgbClr val="111111"/>
                          </a:solidFill>
                          <a:latin typeface="Arial"/>
                          <a:ea typeface="Arial"/>
                          <a:cs typeface="Arial"/>
                        </a:rPr>
                        <a:t>6</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Not working</a:t>
                      </a:r>
                    </a:p>
                  </a:txBody>
                  <a:tcPr marL="91440" marR="91440" marT="45720" marB="45720">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Individual tickets lack unique serial numbers.</a:t>
                      </a:r>
                    </a:p>
                  </a:txBody>
                  <a:tcPr marL="91440" marR="91440" marT="45720" marB="45720">
                    <a:lnR w="9525">
                      <a:solidFill>
                        <a:srgbClr val="C7CDD3"/>
                      </a:solidFill>
                      <a:prstDash val="solid"/>
                    </a:lnR>
                    <a:lnB w="9525">
                      <a:solidFill>
                        <a:srgbClr val="C7CDD3"/>
                      </a:solidFill>
                      <a:prstDash val="solid"/>
                    </a:lnB>
                    <a:solidFill>
                      <a:srgbClr val="E9EFF5"/>
                    </a:solidFill>
                  </a:tcPr>
                </a:tc>
              </a:tr>
            </a:tbl>
          </a:graphicData>
        </a:graphic>
      </p:graphicFrame>
    </p:spTree>
    <p:extLst>
      <p:ext uri="{BB962C8B-B14F-4D97-AF65-F5344CB8AC3E}">
        <p14:creationId xmlns:p14="http://schemas.microsoft.com/office/powerpoint/2010/main" val="10597089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B445F2-60F0-40F7-9552-5FFFFBD173EC}"/>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Debrief: COBIT 2019 References</a:t>
            </a:r>
          </a:p>
        </p:txBody>
      </p:sp>
      <p:sp>
        <p:nvSpPr>
          <p:cNvPr id="2" name="">
            <a:extLst xmlns:a="http://schemas.openxmlformats.org/drawingml/2006/main">
              <a:ext uri="{FF2B5EF4-FFF2-40B4-BE49-F238E27FC236}">
                <a16:creationId xmlns:a16="http://schemas.microsoft.com/office/drawing/2014/main" id="{B6289774-CD3D-4A78-8331-CF5455C6E88D}"/>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993B4FE4-E501-4678-A18D-5AC384FB6C2B}"/>
              </a:ext>
            </a:extLst>
          </p:cNvPr>
          <p:cNvGraphicFramePr/>
          <p:nvPr/>
        </p:nvGraphicFramePr>
        <p:xfrm>
          <a:off xmlns:a="http://schemas.openxmlformats.org/drawingml/2006/main" x="609600" y="1390650"/>
          <a:ext xmlns:a="http://schemas.openxmlformats.org/drawingml/2006/main" cx="10972800" cy="4305300"/>
        </p:xfrm>
        <a:graphic xmlns:a="http://schemas.openxmlformats.org/drawingml/2006/main">
          <a:graphicData uri="http://schemas.openxmlformats.org/drawingml/2006/table">
            <a:tbl>
              <a:tblPr/>
              <a:tblGrid>
                <a:gridCol w="6286500"/>
                <a:gridCol w="4686300"/>
              </a:tblGrid>
              <a:tr h="861060">
                <a:tc>
                  <a:txBody>
                    <a:bodyPr/>
                    <a:lstStyle/>
                    <a:p>
                      <a:r>
                        <a:rPr sz="1800" b="1">
                          <a:solidFill>
                            <a:srgbClr val="FFFFFF"/>
                          </a:solidFill>
                          <a:latin typeface="Arial"/>
                          <a:ea typeface="Arial"/>
                          <a:cs typeface="Arial"/>
                        </a:rPr>
                        <a:t>COBIT 2019 Practice</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800" b="1">
                          <a:solidFill>
                            <a:srgbClr val="FFFFFF"/>
                          </a:solidFill>
                          <a:latin typeface="Arial"/>
                          <a:ea typeface="Arial"/>
                          <a:cs typeface="Arial"/>
                        </a:rPr>
                        <a:t>Relevant Control Issue</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861060">
                <a:tc>
                  <a:txBody>
                    <a:bodyPr/>
                    <a:lstStyle/>
                    <a:p>
                      <a:r>
                        <a:rPr sz="1800" b="0">
                          <a:solidFill>
                            <a:srgbClr val="111111"/>
                          </a:solidFill>
                          <a:latin typeface="Arial"/>
                          <a:ea typeface="Arial"/>
                          <a:cs typeface="Arial"/>
                        </a:rPr>
                        <a:t>DSS06.02</a:t>
                      </a:r>
                    </a:p>
                    <a:p>
                      <a:r>
                        <a:rPr sz="1800" b="0">
                          <a:solidFill>
                            <a:srgbClr val="111111"/>
                          </a:solidFill>
                          <a:latin typeface="Arial"/>
                          <a:ea typeface="Arial"/>
                          <a:cs typeface="Arial"/>
                        </a:rPr>
                        <a:t>Control the Processing of Information</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Backend transaction validation and purchase limits</a:t>
                      </a:r>
                    </a:p>
                  </a:txBody>
                  <a:tcPr marL="91440" marR="91440" marT="45720" marB="45720">
                    <a:lnR w="9525">
                      <a:solidFill>
                        <a:srgbClr val="C7CDD3"/>
                      </a:solidFill>
                      <a:prstDash val="solid"/>
                    </a:lnR>
                    <a:lnB w="9525">
                      <a:solidFill>
                        <a:srgbClr val="C7CDD3"/>
                      </a:solidFill>
                      <a:prstDash val="solid"/>
                    </a:lnB>
                    <a:solidFill>
                      <a:srgbClr val="FFFFFF"/>
                    </a:solidFill>
                  </a:tcPr>
                </a:tc>
              </a:tr>
              <a:tr h="861060">
                <a:tc>
                  <a:txBody>
                    <a:bodyPr/>
                    <a:lstStyle/>
                    <a:p>
                      <a:r>
                        <a:rPr sz="1800" b="0">
                          <a:solidFill>
                            <a:srgbClr val="111111"/>
                          </a:solidFill>
                          <a:latin typeface="Arial"/>
                          <a:ea typeface="Arial"/>
                          <a:cs typeface="Arial"/>
                        </a:rPr>
                        <a:t>DSS06.04</a:t>
                      </a:r>
                    </a:p>
                    <a:p>
                      <a:r>
                        <a:rPr sz="1800" b="0">
                          <a:solidFill>
                            <a:srgbClr val="111111"/>
                          </a:solidFill>
                          <a:latin typeface="Arial"/>
                          <a:ea typeface="Arial"/>
                          <a:cs typeface="Arial"/>
                        </a:rPr>
                        <a:t>Manage Errors and Exceptions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Exception reports for abnormal purchase activity</a:t>
                      </a:r>
                    </a:p>
                  </a:txBody>
                  <a:tcPr marL="91440" marR="91440" marT="45720" marB="45720">
                    <a:lnR w="9525">
                      <a:solidFill>
                        <a:srgbClr val="C7CDD3"/>
                      </a:solidFill>
                      <a:prstDash val="solid"/>
                    </a:lnR>
                    <a:lnB w="9525">
                      <a:solidFill>
                        <a:srgbClr val="C7CDD3"/>
                      </a:solidFill>
                      <a:prstDash val="solid"/>
                    </a:lnB>
                    <a:solidFill>
                      <a:srgbClr val="E9EFF5"/>
                    </a:solidFill>
                  </a:tcPr>
                </a:tc>
              </a:tr>
              <a:tr h="861060">
                <a:tc>
                  <a:txBody>
                    <a:bodyPr/>
                    <a:lstStyle/>
                    <a:p>
                      <a:r>
                        <a:rPr sz="1800" b="0">
                          <a:solidFill>
                            <a:srgbClr val="111111"/>
                          </a:solidFill>
                          <a:latin typeface="Arial"/>
                          <a:ea typeface="Arial"/>
                          <a:cs typeface="Arial"/>
                        </a:rPr>
                        <a:t>DSS05.04</a:t>
                      </a:r>
                    </a:p>
                    <a:p>
                      <a:r>
                        <a:rPr sz="1800" b="0">
                          <a:solidFill>
                            <a:srgbClr val="111111"/>
                          </a:solidFill>
                          <a:latin typeface="Arial"/>
                          <a:ea typeface="Arial"/>
                          <a:cs typeface="Arial"/>
                        </a:rPr>
                        <a:t>Manage User Identity and Logical Access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800" b="0">
                          <a:solidFill>
                            <a:srgbClr val="111111"/>
                          </a:solidFill>
                          <a:latin typeface="Arial"/>
                          <a:ea typeface="Arial"/>
                          <a:cs typeface="Arial"/>
                        </a:rPr>
                        <a:t>Approval and periodic review of user accounts</a:t>
                      </a:r>
                    </a:p>
                  </a:txBody>
                  <a:tcPr marL="91440" marR="91440" marT="45720" marB="45720">
                    <a:lnR w="9525">
                      <a:solidFill>
                        <a:srgbClr val="C7CDD3"/>
                      </a:solidFill>
                      <a:prstDash val="solid"/>
                    </a:lnR>
                    <a:lnB w="9525">
                      <a:solidFill>
                        <a:srgbClr val="C7CDD3"/>
                      </a:solidFill>
                      <a:prstDash val="solid"/>
                    </a:lnB>
                    <a:solidFill>
                      <a:srgbClr val="FFFFFF"/>
                    </a:solidFill>
                  </a:tcPr>
                </a:tc>
              </a:tr>
              <a:tr h="861060">
                <a:tc>
                  <a:txBody>
                    <a:bodyPr/>
                    <a:lstStyle/>
                    <a:p>
                      <a:r>
                        <a:rPr sz="1800" b="0">
                          <a:solidFill>
                            <a:srgbClr val="111111"/>
                          </a:solidFill>
                          <a:latin typeface="Arial"/>
                          <a:ea typeface="Arial"/>
                          <a:cs typeface="Arial"/>
                        </a:rPr>
                        <a:t>DSS06.05</a:t>
                      </a:r>
                    </a:p>
                    <a:p>
                      <a:r>
                        <a:rPr sz="1800" b="0">
                          <a:solidFill>
                            <a:srgbClr val="111111"/>
                          </a:solidFill>
                          <a:latin typeface="Arial"/>
                          <a:ea typeface="Arial"/>
                          <a:cs typeface="Arial"/>
                        </a:rPr>
                        <a:t>Ensure Traceability and Accountability for Information Events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800" b="0">
                          <a:solidFill>
                            <a:srgbClr val="111111"/>
                          </a:solidFill>
                          <a:latin typeface="Arial"/>
                          <a:ea typeface="Arial"/>
                          <a:cs typeface="Arial"/>
                        </a:rPr>
                        <a:t>Records that trace transactions to the user and purchase</a:t>
                      </a:r>
                    </a:p>
                  </a:txBody>
                  <a:tcPr marL="91440" marR="91440" marT="45720" marB="45720">
                    <a:lnR w="9525">
                      <a:solidFill>
                        <a:srgbClr val="C7CDD3"/>
                      </a:solidFill>
                      <a:prstDash val="solid"/>
                    </a:lnR>
                    <a:lnB w="9525">
                      <a:solidFill>
                        <a:srgbClr val="C7CDD3"/>
                      </a:solidFill>
                      <a:prstDash val="solid"/>
                    </a:lnB>
                    <a:solidFill>
                      <a:srgbClr val="E9EFF5"/>
                    </a:solidFill>
                  </a:tcPr>
                </a:tc>
              </a:tr>
            </a:tbl>
          </a:graphicData>
        </a:graphic>
      </p:graphicFrame>
    </p:spTree>
    <p:extLst>
      <p:ext uri="{BB962C8B-B14F-4D97-AF65-F5344CB8AC3E}">
        <p14:creationId xmlns:p14="http://schemas.microsoft.com/office/powerpoint/2010/main" val="1855941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93567E-061A-4FF0-80AE-55DF2495E49A}"/>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Debrief: Recommended Controls</a:t>
            </a:r>
          </a:p>
        </p:txBody>
      </p:sp>
      <p:sp>
        <p:nvSpPr>
          <p:cNvPr id="2" name="">
            <a:extLst xmlns:a="http://schemas.openxmlformats.org/drawingml/2006/main">
              <a:ext uri="{FF2B5EF4-FFF2-40B4-BE49-F238E27FC236}">
                <a16:creationId xmlns:a16="http://schemas.microsoft.com/office/drawing/2014/main" id="{6A60AA6A-0005-4DD4-A77F-D7FE48CC4D81}"/>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D5C4BA5A-A284-4623-821C-48A15521E119}"/>
              </a:ext>
            </a:extLst>
          </p:cNvPr>
          <p:cNvGraphicFramePr/>
          <p:nvPr/>
        </p:nvGraphicFramePr>
        <p:xfrm>
          <a:off xmlns:a="http://schemas.openxmlformats.org/drawingml/2006/main" x="609600" y="1390650"/>
          <a:ext xmlns:a="http://schemas.openxmlformats.org/drawingml/2006/main" cx="10972800" cy="4095750"/>
        </p:xfrm>
        <a:graphic xmlns:a="http://schemas.openxmlformats.org/drawingml/2006/main">
          <a:graphicData uri="http://schemas.openxmlformats.org/drawingml/2006/table">
            <a:tbl>
              <a:tblPr/>
              <a:tblGrid>
                <a:gridCol w="3429000"/>
                <a:gridCol w="7543800"/>
              </a:tblGrid>
              <a:tr h="819150">
                <a:tc>
                  <a:txBody>
                    <a:bodyPr/>
                    <a:lstStyle/>
                    <a:p>
                      <a:r>
                        <a:rPr sz="1950" b="1">
                          <a:solidFill>
                            <a:srgbClr val="FFFFFF"/>
                          </a:solidFill>
                          <a:latin typeface="Arial"/>
                          <a:ea typeface="Arial"/>
                          <a:cs typeface="Arial"/>
                        </a:rPr>
                        <a:t>Control Area</a:t>
                      </a:r>
                    </a:p>
                  </a:txBody>
                  <a:tcPr marL="91440" marR="91440" marT="45720" marB="45720">
                    <a:lnL w="9525">
                      <a:solidFill>
                        <a:srgbClr val="C7CDD3"/>
                      </a:solidFill>
                      <a:prstDash val="solid"/>
                    </a:lnL>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c>
                  <a:txBody>
                    <a:bodyPr/>
                    <a:lstStyle/>
                    <a:p>
                      <a:r>
                        <a:rPr sz="1950" b="1">
                          <a:solidFill>
                            <a:srgbClr val="FFFFFF"/>
                          </a:solidFill>
                          <a:latin typeface="Arial"/>
                          <a:ea typeface="Arial"/>
                          <a:cs typeface="Arial"/>
                        </a:rPr>
                        <a:t>Example Recommendation</a:t>
                      </a:r>
                    </a:p>
                  </a:txBody>
                  <a:tcPr marL="91440" marR="91440" marT="45720" marB="45720">
                    <a:lnR w="9525">
                      <a:solidFill>
                        <a:srgbClr val="C7CDD3"/>
                      </a:solidFill>
                      <a:prstDash val="solid"/>
                    </a:lnR>
                    <a:lnT w="9525">
                      <a:solidFill>
                        <a:srgbClr val="C7CDD3"/>
                      </a:solidFill>
                      <a:prstDash val="solid"/>
                    </a:lnT>
                    <a:lnB w="9525">
                      <a:solidFill>
                        <a:srgbClr val="C7CDD3"/>
                      </a:solidFill>
                      <a:prstDash val="solid"/>
                    </a:lnB>
                    <a:solidFill>
                      <a:srgbClr val="376092"/>
                    </a:solidFill>
                  </a:tcPr>
                </a:tc>
              </a:tr>
              <a:tr h="819150">
                <a:tc>
                  <a:txBody>
                    <a:bodyPr/>
                    <a:lstStyle/>
                    <a:p>
                      <a:r>
                        <a:rPr sz="1950" b="0">
                          <a:solidFill>
                            <a:srgbClr val="111111"/>
                          </a:solidFill>
                          <a:latin typeface="Arial"/>
                          <a:ea typeface="Arial"/>
                          <a:cs typeface="Arial"/>
                        </a:rPr>
                        <a:t>Purchase limits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950" b="0">
                          <a:solidFill>
                            <a:srgbClr val="111111"/>
                          </a:solidFill>
                          <a:latin typeface="Arial"/>
                          <a:ea typeface="Arial"/>
                          <a:cs typeface="Arial"/>
                        </a:rPr>
                        <a:t>Configure backend checks to match the stated policy for each user and event.</a:t>
                      </a:r>
                    </a:p>
                  </a:txBody>
                  <a:tcPr marL="91440" marR="91440" marT="45720" marB="45720">
                    <a:lnR w="9525">
                      <a:solidFill>
                        <a:srgbClr val="C7CDD3"/>
                      </a:solidFill>
                      <a:prstDash val="solid"/>
                    </a:lnR>
                    <a:lnB w="9525">
                      <a:solidFill>
                        <a:srgbClr val="C7CDD3"/>
                      </a:solidFill>
                      <a:prstDash val="solid"/>
                    </a:lnB>
                    <a:solidFill>
                      <a:srgbClr val="FFFFFF"/>
                    </a:solidFill>
                  </a:tcPr>
                </a:tc>
              </a:tr>
              <a:tr h="819150">
                <a:tc>
                  <a:txBody>
                    <a:bodyPr/>
                    <a:lstStyle/>
                    <a:p>
                      <a:r>
                        <a:rPr sz="1950" b="0">
                          <a:solidFill>
                            <a:srgbClr val="111111"/>
                          </a:solidFill>
                          <a:latin typeface="Arial"/>
                          <a:ea typeface="Arial"/>
                          <a:cs typeface="Arial"/>
                        </a:rPr>
                        <a:t>User access</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950" b="0">
                          <a:solidFill>
                            <a:srgbClr val="111111"/>
                          </a:solidFill>
                          <a:latin typeface="Arial"/>
                          <a:ea typeface="Arial"/>
                          <a:cs typeface="Arial"/>
                        </a:rPr>
                        <a:t>Approve accounts and periodically review the user population.</a:t>
                      </a:r>
                    </a:p>
                  </a:txBody>
                  <a:tcPr marL="91440" marR="91440" marT="45720" marB="45720">
                    <a:lnR w="9525">
                      <a:solidFill>
                        <a:srgbClr val="C7CDD3"/>
                      </a:solidFill>
                      <a:prstDash val="solid"/>
                    </a:lnR>
                    <a:lnB w="9525">
                      <a:solidFill>
                        <a:srgbClr val="C7CDD3"/>
                      </a:solidFill>
                      <a:prstDash val="solid"/>
                    </a:lnB>
                    <a:solidFill>
                      <a:srgbClr val="E9EFF5"/>
                    </a:solidFill>
                  </a:tcPr>
                </a:tc>
              </a:tr>
              <a:tr h="819150">
                <a:tc>
                  <a:txBody>
                    <a:bodyPr/>
                    <a:lstStyle/>
                    <a:p>
                      <a:r>
                        <a:rPr sz="1950" b="0">
                          <a:solidFill>
                            <a:srgbClr val="111111"/>
                          </a:solidFill>
                          <a:latin typeface="Arial"/>
                          <a:ea typeface="Arial"/>
                          <a:cs typeface="Arial"/>
                        </a:rPr>
                        <a:t>Suspicious activity</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FFFFFF"/>
                    </a:solidFill>
                  </a:tcPr>
                </a:tc>
                <a:tc>
                  <a:txBody>
                    <a:bodyPr/>
                    <a:lstStyle/>
                    <a:p>
                      <a:r>
                        <a:rPr sz="1950" b="0">
                          <a:solidFill>
                            <a:srgbClr val="111111"/>
                          </a:solidFill>
                          <a:latin typeface="Arial"/>
                          <a:ea typeface="Arial"/>
                          <a:cs typeface="Arial"/>
                        </a:rPr>
                        <a:t>Use rate limits, exception reports, and management review.</a:t>
                      </a:r>
                    </a:p>
                  </a:txBody>
                  <a:tcPr marL="91440" marR="91440" marT="45720" marB="45720">
                    <a:lnR w="9525">
                      <a:solidFill>
                        <a:srgbClr val="C7CDD3"/>
                      </a:solidFill>
                      <a:prstDash val="solid"/>
                    </a:lnR>
                    <a:lnB w="9525">
                      <a:solidFill>
                        <a:srgbClr val="C7CDD3"/>
                      </a:solidFill>
                      <a:prstDash val="solid"/>
                    </a:lnB>
                    <a:solidFill>
                      <a:srgbClr val="FFFFFF"/>
                    </a:solidFill>
                  </a:tcPr>
                </a:tc>
              </a:tr>
              <a:tr h="819150">
                <a:tc>
                  <a:txBody>
                    <a:bodyPr/>
                    <a:lstStyle/>
                    <a:p>
                      <a:r>
                        <a:rPr sz="1950" b="0">
                          <a:solidFill>
                            <a:srgbClr val="111111"/>
                          </a:solidFill>
                          <a:latin typeface="Arial"/>
                          <a:ea typeface="Arial"/>
                          <a:cs typeface="Arial"/>
                        </a:rPr>
                        <a:t>Traceability</a:t>
                      </a:r>
                    </a:p>
                  </a:txBody>
                  <a:tcPr marL="91440" marR="91440" marT="45720" marB="45720">
                    <a:lnL w="9525">
                      <a:solidFill>
                        <a:srgbClr val="C7CDD3"/>
                      </a:solidFill>
                      <a:prstDash val="solid"/>
                    </a:lnL>
                    <a:lnR w="9525">
                      <a:solidFill>
                        <a:srgbClr val="C7CDD3"/>
                      </a:solidFill>
                      <a:prstDash val="solid"/>
                    </a:lnR>
                    <a:lnB w="9525">
                      <a:solidFill>
                        <a:srgbClr val="C7CDD3"/>
                      </a:solidFill>
                      <a:prstDash val="solid"/>
                    </a:lnB>
                    <a:solidFill>
                      <a:srgbClr val="E9EFF5"/>
                    </a:solidFill>
                  </a:tcPr>
                </a:tc>
                <a:tc>
                  <a:txBody>
                    <a:bodyPr/>
                    <a:lstStyle/>
                    <a:p>
                      <a:r>
                        <a:rPr sz="1950" b="0">
                          <a:solidFill>
                            <a:srgbClr val="111111"/>
                          </a:solidFill>
                          <a:latin typeface="Arial"/>
                          <a:ea typeface="Arial"/>
                          <a:cs typeface="Arial"/>
                        </a:rPr>
                        <a:t>Retain purchase timestamps and unique identifiers for individual tickets.</a:t>
                      </a:r>
                    </a:p>
                  </a:txBody>
                  <a:tcPr marL="91440" marR="91440" marT="45720" marB="45720">
                    <a:lnR w="9525">
                      <a:solidFill>
                        <a:srgbClr val="C7CDD3"/>
                      </a:solidFill>
                      <a:prstDash val="solid"/>
                    </a:lnR>
                    <a:lnB w="9525">
                      <a:solidFill>
                        <a:srgbClr val="C7CDD3"/>
                      </a:solidFill>
                      <a:prstDash val="solid"/>
                    </a:lnB>
                    <a:solidFill>
                      <a:srgbClr val="E9EFF5"/>
                    </a:solidFill>
                  </a:tcPr>
                </a:tc>
              </a:tr>
            </a:tbl>
          </a:graphicData>
        </a:graphic>
      </p:graphicFrame>
    </p:spTree>
    <p:extLst>
      <p:ext uri="{BB962C8B-B14F-4D97-AF65-F5344CB8AC3E}">
        <p14:creationId xmlns:p14="http://schemas.microsoft.com/office/powerpoint/2010/main" val="9832896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2ACA16-98D6-4B0C-8F99-4BD461595B2C}"/>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Grading and Class Debrief</a:t>
            </a:r>
          </a:p>
        </p:txBody>
      </p:sp>
      <p:sp>
        <p:nvSpPr>
          <p:cNvPr id="2" name="">
            <a:extLst xmlns:a="http://schemas.openxmlformats.org/drawingml/2006/main">
              <a:ext uri="{FF2B5EF4-FFF2-40B4-BE49-F238E27FC236}">
                <a16:creationId xmlns:a16="http://schemas.microsoft.com/office/drawing/2014/main" id="{CEA2A797-3D88-4FE6-AA90-2BA6E3D61240}"/>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FDA9561-875F-4786-8E53-9F19550C0B50}"/>
              </a:ext>
            </a:extLst>
          </p:cNvPr>
          <p:cNvSpPr>
            <a:spLocks xmlns:a="http://schemas.openxmlformats.org/drawingml/2006/main" noGrp="1"/>
          </p:cNvSpPr>
          <p:nvPr/>
        </p:nvSpPr>
        <p:spPr>
          <a:xfrm xmlns:a="http://schemas.openxmlformats.org/drawingml/2006/main">
            <a:off x="685800" y="142875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The main grading emphasis is the quality of audit reasoning and supporting evidence.</a:t>
            </a:r>
          </a:p>
        </p:txBody>
      </p:sp>
      <p:sp>
        <p:nvSpPr>
          <p:cNvPr id="4" name="">
            <a:extLst xmlns:a="http://schemas.openxmlformats.org/drawingml/2006/main">
              <a:ext uri="{FF2B5EF4-FFF2-40B4-BE49-F238E27FC236}">
                <a16:creationId xmlns:a16="http://schemas.microsoft.com/office/drawing/2014/main" id="{D59DEB6B-B123-48CD-A27C-E8A2DAAD65CA}"/>
              </a:ext>
            </a:extLst>
          </p:cNvPr>
          <p:cNvSpPr>
            <a:spLocks xmlns:a="http://schemas.openxmlformats.org/drawingml/2006/main" noGrp="1"/>
          </p:cNvSpPr>
          <p:nvPr/>
        </p:nvSpPr>
        <p:spPr>
          <a:xfrm xmlns:a="http://schemas.openxmlformats.org/drawingml/2006/main">
            <a:off x="685800" y="25146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Ask which weakness matters most and what evidence supports the finding.</a:t>
            </a:r>
          </a:p>
        </p:txBody>
      </p:sp>
      <p:sp>
        <p:nvSpPr>
          <p:cNvPr id="5" name="">
            <a:extLst xmlns:a="http://schemas.openxmlformats.org/drawingml/2006/main">
              <a:ext uri="{FF2B5EF4-FFF2-40B4-BE49-F238E27FC236}">
                <a16:creationId xmlns:a16="http://schemas.microsoft.com/office/drawing/2014/main" id="{1B7D3A84-4576-476D-9816-46E82D93B3EE}"/>
              </a:ext>
            </a:extLst>
          </p:cNvPr>
          <p:cNvSpPr>
            <a:spLocks xmlns:a="http://schemas.openxmlformats.org/drawingml/2006/main" noGrp="1"/>
          </p:cNvSpPr>
          <p:nvPr/>
        </p:nvSpPr>
        <p:spPr>
          <a:xfrm xmlns:a="http://schemas.openxmlformats.org/drawingml/2006/main">
            <a:off x="685800" y="360045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Ask whether a recorded transaction satisfied the underlying control objective.</a:t>
            </a:r>
          </a:p>
        </p:txBody>
      </p:sp>
      <p:sp>
        <p:nvSpPr>
          <p:cNvPr id="6" name="">
            <a:extLst xmlns:a="http://schemas.openxmlformats.org/drawingml/2006/main">
              <a:ext uri="{FF2B5EF4-FFF2-40B4-BE49-F238E27FC236}">
                <a16:creationId xmlns:a16="http://schemas.microsoft.com/office/drawing/2014/main" id="{7605C081-5C0B-4B5D-A8C9-38FEABC3CB54}"/>
              </a:ext>
            </a:extLst>
          </p:cNvPr>
          <p:cNvSpPr>
            <a:spLocks xmlns:a="http://schemas.openxmlformats.org/drawingml/2006/main" noGrp="1"/>
          </p:cNvSpPr>
          <p:nvPr/>
        </p:nvSpPr>
        <p:spPr>
          <a:xfrm xmlns:a="http://schemas.openxmlformats.org/drawingml/2006/main">
            <a:off x="685800" y="46863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Arial"/>
                <a:ea typeface="Arial"/>
                <a:cs typeface="Arial"/>
              </a:defRPr>
            </a:defPPr>
          </a:lstStyle>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Use the separate Instructor Solutions for both worksheet versions.</a:t>
            </a:r>
          </a:p>
        </p:txBody>
      </p:sp>
    </p:spTree>
    <p:extLst>
      <p:ext uri="{BB962C8B-B14F-4D97-AF65-F5344CB8AC3E}">
        <p14:creationId xmlns:p14="http://schemas.microsoft.com/office/powerpoint/2010/main" val="14449512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C30206-C8E1-43CD-B1B8-36C29E39BB74}"/>
              </a:ext>
            </a:extLst>
          </p:cNvPr>
          <p:cNvSpPr>
            <a:spLocks xmlns:a="http://schemas.openxmlformats.org/drawingml/2006/main" noGrp="1"/>
          </p:cNvSpPr>
          <p:nvPr/>
        </p:nvSpPr>
        <p:spPr>
          <a:xfrm xmlns:a="http://schemas.openxmlformats.org/drawingml/2006/main">
            <a:off x="609600" y="3810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376092"/>
                </a:solidFill>
                <a:latin typeface="Arial"/>
                <a:ea typeface="Arial"/>
                <a:cs typeface="Arial"/>
              </a:defRPr>
            </a:defPPr>
          </a:lstStyle>
          <a:p xmlns:a="http://schemas.openxmlformats.org/drawingml/2006/main">
            <a:pPr>
              <a:defRPr sz="3300" b="1">
                <a:solidFill>
                  <a:srgbClr val="376092"/>
                </a:solidFill>
                <a:latin typeface="Arial"/>
                <a:ea typeface="Arial"/>
                <a:cs typeface="Arial"/>
              </a:defRPr>
            </a:pPr>
            <a:r>
              <a:rPr sz="3300" b="1">
                <a:solidFill>
                  <a:srgbClr val="376092"/>
                </a:solidFill>
                <a:latin typeface="Arial"/>
                <a:ea typeface="Arial"/>
                <a:cs typeface="Arial"/>
              </a:rPr>
              <a:t>Instructor Resources</a:t>
            </a:r>
          </a:p>
        </p:txBody>
      </p:sp>
      <p:sp>
        <p:nvSpPr>
          <p:cNvPr id="2" name="">
            <a:extLst xmlns:a="http://schemas.openxmlformats.org/drawingml/2006/main">
              <a:ext uri="{FF2B5EF4-FFF2-40B4-BE49-F238E27FC236}">
                <a16:creationId xmlns:a16="http://schemas.microsoft.com/office/drawing/2014/main" id="{96496371-2173-4085-8719-B2CDFD0525F0}"/>
              </a:ext>
            </a:extLst>
          </p:cNvPr>
          <p:cNvSpPr>
            <a:spLocks xmlns:a="http://schemas.openxmlformats.org/drawingml/2006/main" noGrp="1"/>
          </p:cNvSpPr>
          <p:nvPr/>
        </p:nvSpPr>
        <p:spPr>
          <a:xfrm xmlns:a="http://schemas.openxmlformats.org/drawingml/2006/main">
            <a:off x="11144250" y="63627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05050"/>
                </a:solidFill>
                <a:latin typeface="Arial"/>
                <a:ea typeface="Arial"/>
                <a:cs typeface="Arial"/>
              </a:defRPr>
            </a:defPPr>
          </a:lstStyle>
          <a:p xmlns:a="http://schemas.openxmlformats.org/drawingml/2006/main">
            <a:pPr>
              <a:defRPr sz="1350" b="0">
                <a:solidFill>
                  <a:srgbClr val="505050"/>
                </a:solidFill>
                <a:latin typeface="Arial"/>
                <a:ea typeface="Arial"/>
                <a:cs typeface="Arial"/>
              </a:defRPr>
            </a:pPr>
            <a:r>
              <a:rPr sz="1350" b="0">
                <a:solidFill>
                  <a:srgbClr val="505050"/>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404F7EA7-BD11-4172-BF36-19AC633ABB4C}"/>
              </a:ext>
            </a:extLst>
            <ns0:hlinkClick xmlns:ns0="http://schemas.openxmlformats.org/drawingml/2006/main" xmlns:ns1="http://schemas.openxmlformats.org/officeDocument/2006/relationships" ns1:id="rIdResource3"/>
          </p:cNvPr>
          <p:cNvSpPr>
            <a:spLocks xmlns:a="http://schemas.openxmlformats.org/drawingml/2006/main" noGrp="1"/>
          </p:cNvSpPr>
          <p:nvPr/>
        </p:nvSpPr>
        <p:spPr>
          <a:xfrm xmlns:a="http://schemas.openxmlformats.org/drawingml/2006/main">
            <a:off x="685800" y="13144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Classroom Briefing Video</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https://youtu.be/YJUvlqT4zYw</a:t>
            </a:r>
          </a:p>
        </p:txBody>
      </p:sp>
      <p:sp>
        <p:nvSpPr>
          <p:cNvPr id="4" name="">
            <a:extLst xmlns:a="http://schemas.openxmlformats.org/drawingml/2006/main">
              <a:ext uri="{FF2B5EF4-FFF2-40B4-BE49-F238E27FC236}">
                <a16:creationId xmlns:a16="http://schemas.microsoft.com/office/drawing/2014/main" id="{3BF02099-2DAC-4FAC-AE86-1D28E498ACEA}"/>
              </a:ext>
            </a:extLst>
            <ns2:hlinkClick xmlns:ns2="http://schemas.openxmlformats.org/drawingml/2006/main" xmlns:ns3="http://schemas.openxmlformats.org/officeDocument/2006/relationships" ns3:id="rIdResource4"/>
          </p:cNvPr>
          <p:cNvSpPr>
            <a:spLocks xmlns:a="http://schemas.openxmlformats.org/drawingml/2006/main" noGrp="1"/>
          </p:cNvSpPr>
          <p:nvPr/>
        </p:nvSpPr>
        <p:spPr>
          <a:xfrm xmlns:a="http://schemas.openxmlformats.org/drawingml/2006/main">
            <a:off x="685800" y="23431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Observing Network Flow Video</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https://youtu.be/u1Z670PWvwY</a:t>
            </a:r>
          </a:p>
        </p:txBody>
      </p:sp>
      <p:sp>
        <p:nvSpPr>
          <p:cNvPr id="5" name="">
            <a:extLst xmlns:a="http://schemas.openxmlformats.org/drawingml/2006/main">
              <a:ext uri="{FF2B5EF4-FFF2-40B4-BE49-F238E27FC236}">
                <a16:creationId xmlns:a16="http://schemas.microsoft.com/office/drawing/2014/main" id="{EAB89403-3124-40EE-952F-443F6DA44649}"/>
              </a:ext>
            </a:extLst>
            <ns4:hlinkClick xmlns:ns4="http://schemas.openxmlformats.org/drawingml/2006/main" xmlns:ns5="http://schemas.openxmlformats.org/officeDocument/2006/relationships" ns5:id="rIdResource5"/>
          </p:cNvPr>
          <p:cNvSpPr>
            <a:spLocks xmlns:a="http://schemas.openxmlformats.org/drawingml/2006/main" noGrp="1"/>
          </p:cNvSpPr>
          <p:nvPr/>
        </p:nvSpPr>
        <p:spPr>
          <a:xfrm xmlns:a="http://schemas.openxmlformats.org/drawingml/2006/main">
            <a:off x="685800" y="33718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Optional GitHub Pages and Render setup</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https://youtu.be/EGJwitU4Nos</a:t>
            </a:r>
          </a:p>
        </p:txBody>
      </p:sp>
      <p:sp>
        <p:nvSpPr>
          <p:cNvPr id="6" name="">
            <a:extLst xmlns:a="http://schemas.openxmlformats.org/drawingml/2006/main">
              <a:ext uri="{FF2B5EF4-FFF2-40B4-BE49-F238E27FC236}">
                <a16:creationId xmlns:a16="http://schemas.microsoft.com/office/drawing/2014/main" id="{30A6B908-3E7E-43EC-80D4-A97289FE399E}"/>
              </a:ext>
            </a:extLst>
            <ns6:hlinkClick xmlns:ns6="http://schemas.openxmlformats.org/drawingml/2006/main" xmlns:ns7="http://schemas.openxmlformats.org/officeDocument/2006/relationships" ns7:id="rIdResource6"/>
          </p:cNvPr>
          <p:cNvSpPr>
            <a:spLocks xmlns:a="http://schemas.openxmlformats.org/drawingml/2006/main" noGrp="1"/>
          </p:cNvSpPr>
          <p:nvPr/>
        </p:nvSpPr>
        <p:spPr>
          <a:xfrm xmlns:a="http://schemas.openxmlformats.org/drawingml/2006/main">
            <a:off x="685800" y="440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11111"/>
                </a:solidFill>
                <a:latin typeface="Arial"/>
                <a:ea typeface="Arial"/>
                <a:cs typeface="Arial"/>
              </a:defRPr>
            </a:defPPr>
          </a:lstStyle>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Repository and supporting materials</a:t>
            </a:r>
          </a:p>
          <a:p xmlns:a="http://schemas.openxmlformats.org/drawingml/2006/main">
            <a:pPr>
              <a:defRPr sz="2100" b="0">
                <a:solidFill>
                  <a:srgbClr val="111111"/>
                </a:solidFill>
                <a:latin typeface="Arial"/>
                <a:ea typeface="Arial"/>
                <a:cs typeface="Arial"/>
              </a:defRPr>
            </a:pPr>
            <a:r>
              <a:rPr sz="2100" b="0">
                <a:solidFill>
                  <a:srgbClr val="111111"/>
                </a:solidFill>
                <a:latin typeface="Arial"/>
                <a:ea typeface="Arial"/>
                <a:cs typeface="Arial"/>
              </a:rPr>
              <a:t>https://github.com/ais-2026-anonymous/ticketing-system</a:t>
            </a:r>
          </a:p>
        </p:txBody>
      </p:sp>
    </p:spTree>
    <p:extLst>
      <p:ext uri="{BB962C8B-B14F-4D97-AF65-F5344CB8AC3E}">
        <p14:creationId xmlns:p14="http://schemas.microsoft.com/office/powerpoint/2010/main" val="1349149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AIS 2026 Anonymous</dc:creator>
  <lastModifiedBy>AIS 2026 Anonymous</lastModifiedBy>
  <dc:title>Presentation</dc:title>
  <dcterms:created xsi:type="dcterms:W3CDTF">2026-10-16T11:16:33.0210000Z</dcterms:created>
  <dcterms:modified xsi:type="dcterms:W3CDTF">2026-10-16T11:16:33.0210000Z</dcterms:modified>
</coreProperties>
</file>